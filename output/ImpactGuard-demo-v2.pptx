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d638080c2d141ef" /><Relationship Type="http://schemas.openxmlformats.org/officeDocument/2006/relationships/extended-properties" Target="/docProps/app.xml" Id="Re7afdde00a3f41ff" /><Relationship Type="http://schemas.openxmlformats.org/officeDocument/2006/relationships/officeDocument" Target="/ppt/presentation.xml" Id="R9b79c52d02f64b6e" /></Relationships>
</file>

<file path=ppt/presentation.xml><?xml version="1.0" encoding="utf-8"?>
<p:presentation xmlns:p="http://schemas.openxmlformats.org/presentationml/2006/main">
  <p:sldMasterIdLst>
    <p:sldMasterId xmlns:r="http://schemas.openxmlformats.org/officeDocument/2006/relationships" id="2147483648" r:id="R23285b269b324c41"/>
  </p:sldMasterIdLst>
  <p:notesMasterIdLst>
    <p:notesMasterId xmlns:r="http://schemas.openxmlformats.org/officeDocument/2006/relationships" r:id="R0b7b87aeb69b4af4"/>
  </p:notesMasterIdLst>
  <p:sldIdLst>
    <p:sldId xmlns:r="http://schemas.openxmlformats.org/officeDocument/2006/relationships" id="256" r:id="R7fdfaf1905864124"/>
    <p:sldId xmlns:r="http://schemas.openxmlformats.org/officeDocument/2006/relationships" id="257" r:id="R80850408b7c54f6e"/>
    <p:sldId xmlns:r="http://schemas.openxmlformats.org/officeDocument/2006/relationships" id="258" r:id="R18b5ea6de52543db"/>
    <p:sldId xmlns:r="http://schemas.openxmlformats.org/officeDocument/2006/relationships" id="259" r:id="Rce52ff2e0d6f4236"/>
    <p:sldId xmlns:r="http://schemas.openxmlformats.org/officeDocument/2006/relationships" id="260" r:id="R95c7d97058134f7a"/>
    <p:sldId xmlns:r="http://schemas.openxmlformats.org/officeDocument/2006/relationships" id="261" r:id="R61930fb629b241dc"/>
    <p:sldId xmlns:r="http://schemas.openxmlformats.org/officeDocument/2006/relationships" id="262" r:id="R94ecf4aedbce4784"/>
    <p:sldId xmlns:r="http://schemas.openxmlformats.org/officeDocument/2006/relationships" id="263" r:id="R33eb692254cb4a4d"/>
    <p:sldId xmlns:r="http://schemas.openxmlformats.org/officeDocument/2006/relationships" id="264" r:id="R21a70880cbb0453c"/>
    <p:sldId xmlns:r="http://schemas.openxmlformats.org/officeDocument/2006/relationships" id="265" r:id="R6316388da08f4d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a426126b4f548bd" /><Relationship Type="http://schemas.openxmlformats.org/officeDocument/2006/relationships/slideMaster" Target="/ppt/slideMasters/slideMaster1.xml" Id="R23285b269b324c41" /><Relationship Type="http://schemas.openxmlformats.org/officeDocument/2006/relationships/notesMaster" Target="/ppt/notesMasters/notesMaster1.xml" Id="R0b7b87aeb69b4af4" /><Relationship Type="http://schemas.openxmlformats.org/officeDocument/2006/relationships/presProps" Target="/ppt/presProps.xml" Id="Rb3a12cba3bb64b35" /><Relationship Type="http://schemas.openxmlformats.org/officeDocument/2006/relationships/tableStyles" Target="/ppt/tableStyles.xml" Id="R469cf925012a463d" /><Relationship Type="http://schemas.openxmlformats.org/officeDocument/2006/relationships/slide" Target="/ppt/slides/slide1.xml" Id="R7fdfaf1905864124" /><Relationship Type="http://schemas.openxmlformats.org/officeDocument/2006/relationships/slide" Target="/ppt/slides/slide2.xml" Id="R80850408b7c54f6e" /><Relationship Type="http://schemas.openxmlformats.org/officeDocument/2006/relationships/slide" Target="/ppt/slides/slide3.xml" Id="R18b5ea6de52543db" /><Relationship Type="http://schemas.openxmlformats.org/officeDocument/2006/relationships/slide" Target="/ppt/slides/slide4.xml" Id="Rce52ff2e0d6f4236" /><Relationship Type="http://schemas.openxmlformats.org/officeDocument/2006/relationships/slide" Target="/ppt/slides/slide5.xml" Id="R95c7d97058134f7a" /><Relationship Type="http://schemas.openxmlformats.org/officeDocument/2006/relationships/slide" Target="/ppt/slides/slide6.xml" Id="R61930fb629b241dc" /><Relationship Type="http://schemas.openxmlformats.org/officeDocument/2006/relationships/slide" Target="/ppt/slides/slide7.xml" Id="R94ecf4aedbce4784" /><Relationship Type="http://schemas.openxmlformats.org/officeDocument/2006/relationships/slide" Target="/ppt/slides/slide8.xml" Id="R33eb692254cb4a4d" /><Relationship Type="http://schemas.openxmlformats.org/officeDocument/2006/relationships/slide" Target="/ppt/slides/slide9.xml" Id="R21a70880cbb0453c" /><Relationship Type="http://schemas.openxmlformats.org/officeDocument/2006/relationships/slide" Target="/ppt/slides/slide10.xml" Id="R6316388da08f4d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ca0b5692c2043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72cfe1183b4d29" /><Relationship Type="http://schemas.openxmlformats.org/officeDocument/2006/relationships/notesMaster" Target="/ppt/notesMasters/notesMaster1.xml" Id="R18d153d3fd6e4b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9450e4026e7641a0" /><Relationship Type="http://schemas.openxmlformats.org/officeDocument/2006/relationships/notesMaster" Target="/ppt/notesMasters/notesMaster1.xml" Id="R3120661d0d32424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6ad8c4836884af2" /><Relationship Type="http://schemas.openxmlformats.org/officeDocument/2006/relationships/notesMaster" Target="/ppt/notesMasters/notesMaster1.xml" Id="R583134b0e0d148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bfc52bc97f4420" /><Relationship Type="http://schemas.openxmlformats.org/officeDocument/2006/relationships/notesMaster" Target="/ppt/notesMasters/notesMaster1.xml" Id="R9265244c08c04ea7"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ea95e0c459492c" /><Relationship Type="http://schemas.openxmlformats.org/officeDocument/2006/relationships/notesMaster" Target="/ppt/notesMasters/notesMaster1.xml" Id="R83a67cff398f461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958f7b41884abc" /><Relationship Type="http://schemas.openxmlformats.org/officeDocument/2006/relationships/notesMaster" Target="/ppt/notesMasters/notesMaster1.xml" Id="R1414f331ec7042f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bbfaa3209a4f01" /><Relationship Type="http://schemas.openxmlformats.org/officeDocument/2006/relationships/notesMaster" Target="/ppt/notesMasters/notesMaster1.xml" Id="R5f0167f98ad5499c" /></Relationships>
</file>

<file path=ppt/notesSlides/_rels/notesSlide8.xml.rels>&#65279;<?xml version="1.0" encoding="utf-8"?><Relationships xmlns="http://schemas.openxmlformats.org/package/2006/relationships"><Relationship Type="http://schemas.openxmlformats.org/officeDocument/2006/relationships/slide" Target="/ppt/slides/slide8.xml" Id="R6a5c8c4a784d4698" /><Relationship Type="http://schemas.openxmlformats.org/officeDocument/2006/relationships/notesMaster" Target="/ppt/notesMasters/notesMaster1.xml" Id="Rf6d3ef07b655467d" /></Relationships>
</file>

<file path=ppt/notesSlides/_rels/notesSlide9.xml.rels>&#65279;<?xml version="1.0" encoding="utf-8"?><Relationships xmlns="http://schemas.openxmlformats.org/package/2006/relationships"><Relationship Type="http://schemas.openxmlformats.org/officeDocument/2006/relationships/slide" Target="/ppt/slides/slide9.xml" Id="R4b0eedafdf74406d" /><Relationship Type="http://schemas.openxmlformats.org/officeDocument/2006/relationships/notesMaster" Target="/ppt/notesMasters/notesMaster1.xml" Id="Re70851eccc164f9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e168eab7c7a4793" /><Relationship Type="http://schemas.openxmlformats.org/officeDocument/2006/relationships/notesMaster" Target="/ppt/notesMasters/notesMaster1.xml" Id="R58bdce301c1c4c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Introduce ImpactGuard. This is a local working prototype. All business figures come from the deterministic local simulator and engine in this project. Seller projection assumes 120 checkout starts/day and $82 average order value. No external customer, cloud, bank or Shopify account is connected.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0:20–0:50. Luma Goods is a fictional independent SME seller running its own Shopify website. It has a developer or agency maintaining checkout and promotions. The buyer needs fewer lost orders and a faster explanation of what changed. All business figures come from the deterministic local simulator and engine in this project. Seller projection assumes 120 checkout starts/day and $82 average order value. No external customer, cloud, bank or Shopify account is connected.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0:50–1:15. Switch to the local app if presenting live. Reset to healthy, then run Checkout regression. Red marks an active issue. Healthy and recovered states are green. The source cohort is synthetic and intentionally larger than the seller volume used in exposure estimates. All business figures come from the deterministic local simulator and engine in this project. Seller projection assumes 120 checkout starts/day and $82 average order value. No external customer, cloud, bank or Shopify account is connected.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1:15–1:50. Open the checkout issue. Explain affected segment and control segments. These rates are measured from 30,000 historical and 6,000 current synthetic sessions. No production observations are represented. All business figures come from the deterministic local simulator and engine in this project. Seller projection assumes 120 checkout starts/day and $82 average order value. No external customer, cloud, bank or Shopify account is connected.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1:50–2:25. Show Commit intelligence or scroll to Suspect commits in the investigation. The top candidate changes PayPal token retrieval. Ranking weights timing 30%, service 30%, diff association 25%, segment signal 15%. Candidate SHA and diff are synthetic fixtures. The GitHub adapter can ingest real repository commits once explicitly connected. All business figures come from the deterministic local simulator and engine in this project. Seller projection assumes 120 checkout starts/day and $82 average order value. No external customer, cloud, bank or Shopify account is connected.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2:25–2:55. Click Simulate remediation in the checkout investigation. The simulator restores healthy behavior and generates fresh sessions. The measured result is 71.75%, rounded to 71.8%. It does not roll back real infrastructure or claim realized savings. All business figures come from the deterministic local simulator and engine in this project. Seller projection assumes 120 checkout starts/day and $82 average order value. No external customer, cloud, bank or Shopify account is connected.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2:55–3:30. After resolving checkout, run Promotion stacking. Highlight negative-margin orders and the discount-combiner diff. Delivery is a second, mature synthetic cohort scenario. Treat its result as an association and annual projection. All business figures come from the deterministic local simulator and engine in this project. Seller projection assumes 120 checkout starts/day and $82 average order value. No external customer, cloud, bank or Shopify account is connected.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3:30–4:10. Run the banking scenario. The status mapper reports success even when the authoritative simulated bank status is failed or pending. Reconciliation compares transaction status with actual ledger postings. The amount is an observed synthetic accounting discrepancy, not a revenue forecast. All business figures come from the deterministic local simulator and engine in this project. Seller projection assumes 120 checkout starts/day and $82 average order value. No external customer, cloud, bank or Shopify account is connected.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4:10–4:40. Show the bank status-mapper diff, then simulate remediation. The demo writes 200 reversal entries and keeps 2,000 original credit postings. The reconciliation engine also checks duplicate and missing ledger postings. Production operation would need verified external settlement evidence and approved accounting controls. All business figures come from the deterministic local simulator and engine in this project. Seller projection assumes 120 checkout starts/day and $82 average order value. No external customer, cloud, bank or Shopify account is connected.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4:40–5:10. Buyer hypothesis, not customer traction. Target an SME seller with a custom Shopify storefront and access to an agency or developer, then validate alert precision and investigation speed. Banking is a separate vertical with a distinct reconciliation control model. All business figures come from the deterministic local simulator and engine in this project. Seller projection assumes 120 checkout starts/day and $82 average order value. No external customer, cloud, bank or Shopify account is connected.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24cd6c4891408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d46f0b5d8954b0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701d64eae2a4c4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7471a05ca13431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afe7cb70ade494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d1a7803b61443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6EA803-A31E-4D68-BFEF-0E56095787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A78303C-659F-4FF5-97A8-B9CE6FA5403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E49BB23-EA17-4C26-A8C9-E82162853E3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2924E4-8209-46CB-9EF4-77EDF8B8B08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88BB83-4DF3-4AAE-8D87-39260A9D043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6F4A252-CA04-47D3-A34C-45E2A1045F3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E364BCC-BB88-43BC-8120-BEEEB118DB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C13AFDD-583E-45C1-A35F-5878322264C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019FB1-E8C3-4519-BF84-F22FE16D902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1C1A0CF-CE4B-41C0-9B14-22EA8DB2CE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5dc73eb4a9c40f5" /><Relationship Type="http://schemas.openxmlformats.org/officeDocument/2006/relationships/slideLayout" Target="/ppt/slideLayouts/slideLayout1.xml" Id="R3b3cc09027c14bbc" /><Relationship Type="http://schemas.openxmlformats.org/officeDocument/2006/relationships/slideLayout" Target="/ppt/slideLayouts/slideLayout2.xml" Id="R55e611223e2b4dfa" /><Relationship Type="http://schemas.openxmlformats.org/officeDocument/2006/relationships/slideLayout" Target="/ppt/slideLayouts/slideLayout3.xml" Id="Rdad774ec92d6475f" /><Relationship Type="http://schemas.openxmlformats.org/officeDocument/2006/relationships/slideLayout" Target="/ppt/slideLayouts/slideLayout4.xml" Id="Rc737b77b1eac42e1" /><Relationship Type="http://schemas.openxmlformats.org/officeDocument/2006/relationships/slideLayout" Target="/ppt/slideLayouts/slideLayout5.xml" Id="Rc341d452119b417c" /><Relationship Type="http://schemas.openxmlformats.org/officeDocument/2006/relationships/slideLayout" Target="/ppt/slideLayouts/slideLayout6.xml" Id="R0d0ed48a02de4b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3cc09027c14bbc"/>
    <p:sldLayoutId xmlns:r="http://schemas.openxmlformats.org/officeDocument/2006/relationships" id="2147483650" r:id="R55e611223e2b4dfa"/>
    <p:sldLayoutId xmlns:r="http://schemas.openxmlformats.org/officeDocument/2006/relationships" id="2147483651" r:id="Rdad774ec92d6475f"/>
    <p:sldLayoutId xmlns:r="http://schemas.openxmlformats.org/officeDocument/2006/relationships" id="2147483652" r:id="Rc737b77b1eac42e1"/>
    <p:sldLayoutId xmlns:r="http://schemas.openxmlformats.org/officeDocument/2006/relationships" id="2147483653" r:id="Rc341d452119b417c"/>
    <p:sldLayoutId xmlns:r="http://schemas.openxmlformats.org/officeDocument/2006/relationships" id="2147483654" r:id="R0d0ed48a02de4b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87b5f29206a4213" /><Relationship Type="http://schemas.openxmlformats.org/officeDocument/2006/relationships/notesSlide" Target="/ppt/notesSlides/notesSlide1.xml" Id="R31fa53dab53d40a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4f137ef027c42fc" /><Relationship Type="http://schemas.openxmlformats.org/officeDocument/2006/relationships/notesSlide" Target="/ppt/notesSlides/notesSlide2.xml" Id="Ref06025d775c4d1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b345430c56f4165" /><Relationship Type="http://schemas.openxmlformats.org/officeDocument/2006/relationships/image" Target="/ppt/media/image.jpeg" Id="R4d7371c69f5c44e6" /><Relationship Type="http://schemas.openxmlformats.org/officeDocument/2006/relationships/notesSlide" Target="/ppt/notesSlides/notesSlide3.xml" Id="Rb0e7ba1b79ff468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5c18df78f7b4dfb" /><Relationship Type="http://schemas.openxmlformats.org/officeDocument/2006/relationships/image" Target="/ppt/media/image2.jpeg" Id="R8387e9416cf0430e" /><Relationship Type="http://schemas.openxmlformats.org/officeDocument/2006/relationships/notesSlide" Target="/ppt/notesSlides/notesSlide4.xml" Id="R51a37da0282046c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193837011e54799" /><Relationship Type="http://schemas.openxmlformats.org/officeDocument/2006/relationships/image" Target="/ppt/media/image3.jpeg" Id="R1e0be337df0e45dc" /><Relationship Type="http://schemas.openxmlformats.org/officeDocument/2006/relationships/notesSlide" Target="/ppt/notesSlides/notesSlide5.xml" Id="R1210565728f647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66e62d543c047b7" /><Relationship Type="http://schemas.openxmlformats.org/officeDocument/2006/relationships/image" Target="/ppt/media/image4.jpeg" Id="R7734380415cc43b8" /><Relationship Type="http://schemas.openxmlformats.org/officeDocument/2006/relationships/notesSlide" Target="/ppt/notesSlides/notesSlide6.xml" Id="Rfc20fa47314047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da4a6db29bd4abd" /><Relationship Type="http://schemas.openxmlformats.org/officeDocument/2006/relationships/notesSlide" Target="/ppt/notesSlides/notesSlide7.xml" Id="Rfc2dc856280c4d8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ea4cd8a179f4340" /><Relationship Type="http://schemas.openxmlformats.org/officeDocument/2006/relationships/image" Target="/ppt/media/image5.jpeg" Id="R62a0b5a012514f47" /><Relationship Type="http://schemas.openxmlformats.org/officeDocument/2006/relationships/notesSlide" Target="/ppt/notesSlides/notesSlide8.xml" Id="R51f8aa1a35a0441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58921977535488d" /><Relationship Type="http://schemas.openxmlformats.org/officeDocument/2006/relationships/image" Target="/ppt/media/image6.jpeg" Id="R2194453e2fbd4e3e" /><Relationship Type="http://schemas.openxmlformats.org/officeDocument/2006/relationships/notesSlide" Target="/ppt/notesSlides/notesSlide9.xml" Id="R10727c4b77814e6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589cbfecc044d55" /><Relationship Type="http://schemas.openxmlformats.org/officeDocument/2006/relationships/notesSlide" Target="/ppt/notesSlides/notesSlide10.xml" Id="R3ee511015a7a4000" /></Relationships>
</file>

<file path=ppt/slides/slide1.xml><?xml version="1.0" encoding="utf-8"?>
<p:sld xmlns:p="http://schemas.openxmlformats.org/presentationml/2006/main">
  <p:cSld>
    <p:bg>
      <p:bgPr>
        <a:solidFill xmlns:a="http://schemas.openxmlformats.org/drawingml/2006/main">
          <a:srgbClr val="181D2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043E711-F258-4AE2-B0A1-A5EAB6A8044F}"/>
              </a:ext>
            </a:extLst>
          </p:cNvPr>
          <p:cNvSpPr>
            <a:spLocks xmlns:a="http://schemas.openxmlformats.org/drawingml/2006/main" noGrp="1"/>
          </p:cNvSpPr>
          <p:nvPr/>
        </p:nvSpPr>
        <p:spPr>
          <a:xfrm xmlns:a="http://schemas.openxmlformats.org/drawingml/2006/main">
            <a:off x="647700" y="1905000"/>
            <a:ext cx="10810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600" b="1">
                <a:solidFill>
                  <a:srgbClr val="FFFFFF"/>
                </a:solidFill>
                <a:latin typeface="Arial"/>
                <a:ea typeface="Arial"/>
                <a:cs typeface="Arial"/>
              </a:defRPr>
            </a:defPPr>
          </a:lstStyle>
          <a:p xmlns:a="http://schemas.openxmlformats.org/drawingml/2006/main">
            <a:pPr>
              <a:defRPr sz="6600" b="1">
                <a:solidFill>
                  <a:srgbClr val="FFFFFF"/>
                </a:solidFill>
                <a:latin typeface="Arial"/>
                <a:ea typeface="Arial"/>
                <a:cs typeface="Arial"/>
              </a:defRPr>
            </a:pPr>
            <a:r>
              <a:rPr sz="6600" b="1">
                <a:solidFill>
                  <a:srgbClr val="FFFFFF"/>
                </a:solidFill>
                <a:latin typeface="Arial"/>
                <a:ea typeface="Arial"/>
                <a:cs typeface="Arial"/>
              </a:rPr>
              <a:t>ImpactGuard</a:t>
            </a:r>
          </a:p>
        </p:txBody>
      </p:sp>
      <p:sp>
        <p:nvSpPr>
          <p:cNvPr id="2" name="">
            <a:extLst xmlns:a="http://schemas.openxmlformats.org/drawingml/2006/main">
              <a:ext uri="{FF2B5EF4-FFF2-40B4-BE49-F238E27FC236}">
                <a16:creationId xmlns:a16="http://schemas.microsoft.com/office/drawing/2014/main" id="{D6C252DB-EB51-4832-A20B-B476B86AED02}"/>
              </a:ext>
            </a:extLst>
          </p:cNvPr>
          <p:cNvSpPr>
            <a:spLocks xmlns:a="http://schemas.openxmlformats.org/drawingml/2006/main" noGrp="1"/>
          </p:cNvSpPr>
          <p:nvPr/>
        </p:nvSpPr>
        <p:spPr>
          <a:xfrm xmlns:a="http://schemas.openxmlformats.org/drawingml/2006/main">
            <a:off x="685800" y="3181350"/>
            <a:ext cx="1028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C9D0DC"/>
                </a:solidFill>
                <a:latin typeface="Arial"/>
                <a:ea typeface="Arial"/>
                <a:cs typeface="Arial"/>
              </a:defRPr>
            </a:defPPr>
          </a:lstStyle>
          <a:p xmlns:a="http://schemas.openxmlformats.org/drawingml/2006/main">
            <a:pPr>
              <a:defRPr sz="2550" b="0">
                <a:solidFill>
                  <a:srgbClr val="C9D0DC"/>
                </a:solidFill>
                <a:latin typeface="Arial"/>
                <a:ea typeface="Arial"/>
                <a:cs typeface="Arial"/>
              </a:defRPr>
            </a:pPr>
            <a:r>
              <a:rPr sz="2550" b="0">
                <a:solidFill>
                  <a:srgbClr val="C9D0DC"/>
                </a:solidFill>
                <a:latin typeface="Arial"/>
                <a:ea typeface="Arial"/>
                <a:cs typeface="Arial"/>
              </a:rPr>
              <a:t>Business regressions, traced to code</a:t>
            </a:r>
          </a:p>
        </p:txBody>
      </p:sp>
      <p:sp>
        <p:nvSpPr>
          <p:cNvPr id="3" name="">
            <a:extLst xmlns:a="http://schemas.openxmlformats.org/drawingml/2006/main">
              <a:ext uri="{FF2B5EF4-FFF2-40B4-BE49-F238E27FC236}">
                <a16:creationId xmlns:a16="http://schemas.microsoft.com/office/drawing/2014/main" id="{410BD326-D2B1-4DA5-AE89-D63AFF2CB6F0}"/>
              </a:ext>
            </a:extLst>
          </p:cNvPr>
          <p:cNvSpPr>
            <a:spLocks xmlns:a="http://schemas.openxmlformats.org/drawingml/2006/main" noGrp="1"/>
          </p:cNvSpPr>
          <p:nvPr/>
        </p:nvSpPr>
        <p:spPr>
          <a:xfrm xmlns:a="http://schemas.openxmlformats.org/drawingml/2006/main">
            <a:off x="685800" y="47625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8E9CAF"/>
                </a:solidFill>
                <a:latin typeface="Arial"/>
                <a:ea typeface="Arial"/>
                <a:cs typeface="Arial"/>
              </a:defRPr>
            </a:defPPr>
          </a:lstStyle>
          <a:p xmlns:a="http://schemas.openxmlformats.org/drawingml/2006/main">
            <a:pPr>
              <a:defRPr sz="1800" b="0">
                <a:solidFill>
                  <a:srgbClr val="8E9CAF"/>
                </a:solidFill>
                <a:latin typeface="Arial"/>
                <a:ea typeface="Arial"/>
                <a:cs typeface="Arial"/>
              </a:defRPr>
            </a:pPr>
            <a:r>
              <a:rPr sz="1800" b="0">
                <a:solidFill>
                  <a:srgbClr val="8E9CAF"/>
                </a:solidFill>
                <a:latin typeface="Arial"/>
                <a:ea typeface="Arial"/>
                <a:cs typeface="Arial"/>
              </a:rPr>
              <a:t>Shopify seller demo and banking reconciliation</a:t>
            </a:r>
          </a:p>
        </p:txBody>
      </p:sp>
      <p:sp>
        <p:nvSpPr>
          <p:cNvPr id="4" name="">
            <a:extLst xmlns:a="http://schemas.openxmlformats.org/drawingml/2006/main">
              <a:ext uri="{FF2B5EF4-FFF2-40B4-BE49-F238E27FC236}">
                <a16:creationId xmlns:a16="http://schemas.microsoft.com/office/drawing/2014/main" id="{4FE93C9D-5730-4E16-860B-D38664ECD9B1}"/>
              </a:ext>
            </a:extLst>
          </p:cNvPr>
          <p:cNvSpPr>
            <a:spLocks xmlns:a="http://schemas.openxmlformats.org/drawingml/2006/main" noGrp="1"/>
          </p:cNvSpPr>
          <p:nvPr/>
        </p:nvSpPr>
        <p:spPr>
          <a:xfrm xmlns:a="http://schemas.openxmlformats.org/drawingml/2006/main">
            <a:off x="685800" y="60960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E9CAF"/>
                </a:solidFill>
                <a:latin typeface="Arial"/>
                <a:ea typeface="Arial"/>
                <a:cs typeface="Arial"/>
              </a:defRPr>
            </a:defPPr>
          </a:lstStyle>
          <a:p xmlns:a="http://schemas.openxmlformats.org/drawingml/2006/main">
            <a:pPr>
              <a:defRPr sz="1200" b="0">
                <a:solidFill>
                  <a:srgbClr val="8E9CAF"/>
                </a:solidFill>
                <a:latin typeface="Arial"/>
                <a:ea typeface="Arial"/>
                <a:cs typeface="Arial"/>
              </a:defRPr>
            </a:pPr>
            <a:r>
              <a:rPr sz="1200" b="0">
                <a:solidFill>
                  <a:srgbClr val="8E9CAF"/>
                </a:solidFill>
                <a:latin typeface="Arial"/>
                <a:ea typeface="Arial"/>
                <a:cs typeface="Arial"/>
              </a:rPr>
              <a:t>LOCAL PROTOTYPE  /  10 OCTOBER 2026</a:t>
            </a:r>
          </a:p>
        </p:txBody>
      </p:sp>
    </p:spTree>
    <p:extLst>
      <p:ext uri="{BB962C8B-B14F-4D97-AF65-F5344CB8AC3E}">
        <p14:creationId xmlns:p14="http://schemas.microsoft.com/office/powerpoint/2010/main" val="902278209"/>
      </p:ext>
    </p:extLst>
  </p:cSld>
</p:sld>
</file>

<file path=ppt/slides/slide2.xml><?xml version="1.0" encoding="utf-8"?>
<p:sld xmlns:p="http://schemas.openxmlformats.org/presentationml/2006/main">
  <p:cSld>
    <p:bg>
      <p:bgPr>
        <a:solidFill xmlns:a="http://schemas.openxmlformats.org/drawingml/2006/main">
          <a:srgbClr val="F7F8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B8D2142-F839-422F-9DB4-E440B0F9C421}"/>
              </a:ext>
            </a:extLst>
          </p:cNvPr>
          <p:cNvSpPr>
            <a:spLocks xmlns:a="http://schemas.openxmlformats.org/drawingml/2006/main" noGrp="1"/>
          </p:cNvSpPr>
          <p:nvPr/>
        </p:nvSpPr>
        <p:spPr>
          <a:xfrm xmlns:a="http://schemas.openxmlformats.org/drawingml/2006/main">
            <a:off x="590550" y="419100"/>
            <a:ext cx="11010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B2029"/>
                </a:solidFill>
                <a:latin typeface="Arial"/>
                <a:ea typeface="Arial"/>
                <a:cs typeface="Arial"/>
              </a:defRPr>
            </a:defPPr>
          </a:lstStyle>
          <a:p xmlns:a="http://schemas.openxmlformats.org/drawingml/2006/main">
            <a:pPr>
              <a:defRPr sz="3150" b="1">
                <a:solidFill>
                  <a:srgbClr val="1B2029"/>
                </a:solidFill>
                <a:latin typeface="Arial"/>
                <a:ea typeface="Arial"/>
                <a:cs typeface="Arial"/>
              </a:defRPr>
            </a:pPr>
            <a:r>
              <a:rPr sz="3150" b="1">
                <a:solidFill>
                  <a:srgbClr val="1B2029"/>
                </a:solidFill>
                <a:latin typeface="Arial"/>
                <a:ea typeface="Arial"/>
                <a:cs typeface="Arial"/>
              </a:rPr>
              <a:t>An independent seller needs a business safety net</a:t>
            </a:r>
          </a:p>
        </p:txBody>
      </p:sp>
      <p:sp>
        <p:nvSpPr>
          <p:cNvPr id="2" name="">
            <a:extLst xmlns:a="http://schemas.openxmlformats.org/drawingml/2006/main">
              <a:ext uri="{FF2B5EF4-FFF2-40B4-BE49-F238E27FC236}">
                <a16:creationId xmlns:a16="http://schemas.microsoft.com/office/drawing/2014/main" id="{C21A17E8-66BB-4423-9964-15B78593436D}"/>
              </a:ext>
            </a:extLst>
          </p:cNvPr>
          <p:cNvSpPr>
            <a:spLocks xmlns:a="http://schemas.openxmlformats.org/drawingml/2006/main" noGrp="1"/>
          </p:cNvSpPr>
          <p:nvPr/>
        </p:nvSpPr>
        <p:spPr>
          <a:xfrm xmlns:a="http://schemas.openxmlformats.org/drawingml/2006/main">
            <a:off x="619125" y="1419225"/>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B2029"/>
                </a:solidFill>
                <a:latin typeface="Arial"/>
                <a:ea typeface="Arial"/>
                <a:cs typeface="Arial"/>
              </a:defRPr>
            </a:defPPr>
          </a:lstStyle>
          <a:p xmlns:a="http://schemas.openxmlformats.org/drawingml/2006/main">
            <a:pPr>
              <a:defRPr sz="3150" b="1">
                <a:solidFill>
                  <a:srgbClr val="1B2029"/>
                </a:solidFill>
                <a:latin typeface="Arial"/>
                <a:ea typeface="Arial"/>
                <a:cs typeface="Arial"/>
              </a:defRPr>
            </a:pPr>
            <a:r>
              <a:rPr sz="3150" b="1">
                <a:solidFill>
                  <a:srgbClr val="1B2029"/>
                </a:solidFill>
                <a:latin typeface="Arial"/>
                <a:ea typeface="Arial"/>
                <a:cs typeface="Arial"/>
              </a:rPr>
              <a:t>Luma Goods</a:t>
            </a:r>
          </a:p>
        </p:txBody>
      </p:sp>
      <p:sp>
        <p:nvSpPr>
          <p:cNvPr id="3" name="">
            <a:extLst xmlns:a="http://schemas.openxmlformats.org/drawingml/2006/main">
              <a:ext uri="{FF2B5EF4-FFF2-40B4-BE49-F238E27FC236}">
                <a16:creationId xmlns:a16="http://schemas.microsoft.com/office/drawing/2014/main" id="{5852E5D8-A1BC-4A5B-A07D-64932FFDC14C}"/>
              </a:ext>
            </a:extLst>
          </p:cNvPr>
          <p:cNvSpPr>
            <a:spLocks xmlns:a="http://schemas.openxmlformats.org/drawingml/2006/main" noGrp="1"/>
          </p:cNvSpPr>
          <p:nvPr/>
        </p:nvSpPr>
        <p:spPr>
          <a:xfrm xmlns:a="http://schemas.openxmlformats.org/drawingml/2006/main">
            <a:off x="619125" y="204787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6738A"/>
                </a:solidFill>
                <a:latin typeface="Arial"/>
                <a:ea typeface="Arial"/>
                <a:cs typeface="Arial"/>
              </a:defRPr>
            </a:defPPr>
          </a:lstStyle>
          <a:p xmlns:a="http://schemas.openxmlformats.org/drawingml/2006/main">
            <a:pPr>
              <a:defRPr sz="1950" b="0">
                <a:solidFill>
                  <a:srgbClr val="66738A"/>
                </a:solidFill>
                <a:latin typeface="Arial"/>
                <a:ea typeface="Arial"/>
                <a:cs typeface="Arial"/>
              </a:defRPr>
            </a:pPr>
            <a:r>
              <a:rPr sz="1950" b="0">
                <a:solidFill>
                  <a:srgbClr val="66738A"/>
                </a:solidFill>
                <a:latin typeface="Arial"/>
                <a:ea typeface="Arial"/>
                <a:cs typeface="Arial"/>
              </a:rPr>
              <a:t>Shopify website, custom checkout changes, frequent promotions</a:t>
            </a:r>
          </a:p>
        </p:txBody>
      </p:sp>
      <p:sp>
        <p:nvSpPr>
          <p:cNvPr id="4" name="">
            <a:extLst xmlns:a="http://schemas.openxmlformats.org/drawingml/2006/main">
              <a:ext uri="{FF2B5EF4-FFF2-40B4-BE49-F238E27FC236}">
                <a16:creationId xmlns:a16="http://schemas.microsoft.com/office/drawing/2014/main" id="{DA835AFC-3BD0-43A3-BB60-38DD58C9DE33}"/>
              </a:ext>
            </a:extLst>
          </p:cNvPr>
          <p:cNvSpPr>
            <a:spLocks xmlns:a="http://schemas.openxmlformats.org/drawingml/2006/main" noGrp="1"/>
          </p:cNvSpPr>
          <p:nvPr/>
        </p:nvSpPr>
        <p:spPr>
          <a:xfrm xmlns:a="http://schemas.openxmlformats.org/drawingml/2006/main">
            <a:off x="619125" y="3333750"/>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850" b="1">
                <a:solidFill>
                  <a:srgbClr val="1B2029"/>
                </a:solidFill>
                <a:latin typeface="Arial"/>
                <a:ea typeface="Arial"/>
                <a:cs typeface="Arial"/>
              </a:defRPr>
            </a:defPPr>
          </a:lstStyle>
          <a:p xmlns:a="http://schemas.openxmlformats.org/drawingml/2006/main">
            <a:pPr>
              <a:defRPr sz="5850" b="1">
                <a:solidFill>
                  <a:srgbClr val="1B2029"/>
                </a:solidFill>
                <a:latin typeface="Arial"/>
                <a:ea typeface="Arial"/>
                <a:cs typeface="Arial"/>
              </a:defRPr>
            </a:pPr>
            <a:r>
              <a:rPr sz="5850" b="1">
                <a:solidFill>
                  <a:srgbClr val="1B2029"/>
                </a:solidFill>
                <a:latin typeface="Arial"/>
                <a:ea typeface="Arial"/>
                <a:cs typeface="Arial"/>
              </a:rPr>
              <a:t>120</a:t>
            </a:r>
          </a:p>
        </p:txBody>
      </p:sp>
      <p:sp>
        <p:nvSpPr>
          <p:cNvPr id="5" name="">
            <a:extLst xmlns:a="http://schemas.openxmlformats.org/drawingml/2006/main">
              <a:ext uri="{FF2B5EF4-FFF2-40B4-BE49-F238E27FC236}">
                <a16:creationId xmlns:a16="http://schemas.microsoft.com/office/drawing/2014/main" id="{733B7BE2-7AA7-4774-86D8-A7B24A6354C6}"/>
              </a:ext>
            </a:extLst>
          </p:cNvPr>
          <p:cNvSpPr>
            <a:spLocks xmlns:a="http://schemas.openxmlformats.org/drawingml/2006/main" noGrp="1"/>
          </p:cNvSpPr>
          <p:nvPr/>
        </p:nvSpPr>
        <p:spPr>
          <a:xfrm xmlns:a="http://schemas.openxmlformats.org/drawingml/2006/main">
            <a:off x="619125" y="4381500"/>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38A"/>
                </a:solidFill>
                <a:latin typeface="Arial"/>
                <a:ea typeface="Arial"/>
                <a:cs typeface="Arial"/>
              </a:defRPr>
            </a:defPPr>
          </a:lstStyle>
          <a:p xmlns:a="http://schemas.openxmlformats.org/drawingml/2006/main">
            <a:pPr>
              <a:defRPr sz="1800" b="0">
                <a:solidFill>
                  <a:srgbClr val="66738A"/>
                </a:solidFill>
                <a:latin typeface="Arial"/>
                <a:ea typeface="Arial"/>
                <a:cs typeface="Arial"/>
              </a:defRPr>
            </a:pPr>
            <a:r>
              <a:rPr sz="1800" b="0">
                <a:solidFill>
                  <a:srgbClr val="66738A"/>
                </a:solidFill>
                <a:latin typeface="Arial"/>
                <a:ea typeface="Arial"/>
                <a:cs typeface="Arial"/>
              </a:rPr>
              <a:t>checkout starts per day</a:t>
            </a:r>
          </a:p>
        </p:txBody>
      </p:sp>
      <p:sp>
        <p:nvSpPr>
          <p:cNvPr id="6" name="">
            <a:extLst xmlns:a="http://schemas.openxmlformats.org/drawingml/2006/main">
              <a:ext uri="{FF2B5EF4-FFF2-40B4-BE49-F238E27FC236}">
                <a16:creationId xmlns:a16="http://schemas.microsoft.com/office/drawing/2014/main" id="{F8F3437D-9E23-4AF5-8704-84A427B728F4}"/>
              </a:ext>
            </a:extLst>
          </p:cNvPr>
          <p:cNvSpPr>
            <a:spLocks xmlns:a="http://schemas.openxmlformats.org/drawingml/2006/main" noGrp="1"/>
          </p:cNvSpPr>
          <p:nvPr/>
        </p:nvSpPr>
        <p:spPr>
          <a:xfrm xmlns:a="http://schemas.openxmlformats.org/drawingml/2006/main">
            <a:off x="4429125" y="3333750"/>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850" b="1">
                <a:solidFill>
                  <a:srgbClr val="1B2029"/>
                </a:solidFill>
                <a:latin typeface="Arial"/>
                <a:ea typeface="Arial"/>
                <a:cs typeface="Arial"/>
              </a:defRPr>
            </a:defPPr>
          </a:lstStyle>
          <a:p xmlns:a="http://schemas.openxmlformats.org/drawingml/2006/main">
            <a:pPr>
              <a:defRPr sz="5850" b="1">
                <a:solidFill>
                  <a:srgbClr val="1B2029"/>
                </a:solidFill>
                <a:latin typeface="Arial"/>
                <a:ea typeface="Arial"/>
                <a:cs typeface="Arial"/>
              </a:defRPr>
            </a:pPr>
            <a:r>
              <a:rPr sz="5850" b="1">
                <a:solidFill>
                  <a:srgbClr val="1B2029"/>
                </a:solidFill>
                <a:latin typeface="Arial"/>
                <a:ea typeface="Arial"/>
                <a:cs typeface="Arial"/>
              </a:rPr>
              <a:t>$82</a:t>
            </a:r>
          </a:p>
        </p:txBody>
      </p:sp>
      <p:sp>
        <p:nvSpPr>
          <p:cNvPr id="7" name="">
            <a:extLst xmlns:a="http://schemas.openxmlformats.org/drawingml/2006/main">
              <a:ext uri="{FF2B5EF4-FFF2-40B4-BE49-F238E27FC236}">
                <a16:creationId xmlns:a16="http://schemas.microsoft.com/office/drawing/2014/main" id="{7C8DD245-5374-4923-8B30-042C3E533662}"/>
              </a:ext>
            </a:extLst>
          </p:cNvPr>
          <p:cNvSpPr>
            <a:spLocks xmlns:a="http://schemas.openxmlformats.org/drawingml/2006/main" noGrp="1"/>
          </p:cNvSpPr>
          <p:nvPr/>
        </p:nvSpPr>
        <p:spPr>
          <a:xfrm xmlns:a="http://schemas.openxmlformats.org/drawingml/2006/main">
            <a:off x="4429125" y="4381500"/>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38A"/>
                </a:solidFill>
                <a:latin typeface="Arial"/>
                <a:ea typeface="Arial"/>
                <a:cs typeface="Arial"/>
              </a:defRPr>
            </a:defPPr>
          </a:lstStyle>
          <a:p xmlns:a="http://schemas.openxmlformats.org/drawingml/2006/main">
            <a:pPr>
              <a:defRPr sz="1800" b="0">
                <a:solidFill>
                  <a:srgbClr val="66738A"/>
                </a:solidFill>
                <a:latin typeface="Arial"/>
                <a:ea typeface="Arial"/>
                <a:cs typeface="Arial"/>
              </a:defRPr>
            </a:pPr>
            <a:r>
              <a:rPr sz="1800" b="0">
                <a:solidFill>
                  <a:srgbClr val="66738A"/>
                </a:solidFill>
                <a:latin typeface="Arial"/>
                <a:ea typeface="Arial"/>
                <a:cs typeface="Arial"/>
              </a:rPr>
              <a:t>assumed order value</a:t>
            </a:r>
          </a:p>
        </p:txBody>
      </p:sp>
      <p:sp>
        <p:nvSpPr>
          <p:cNvPr id="8" name="">
            <a:extLst xmlns:a="http://schemas.openxmlformats.org/drawingml/2006/main">
              <a:ext uri="{FF2B5EF4-FFF2-40B4-BE49-F238E27FC236}">
                <a16:creationId xmlns:a16="http://schemas.microsoft.com/office/drawing/2014/main" id="{C26305E9-782A-4E24-80A1-AE3C9C28F8C9}"/>
              </a:ext>
            </a:extLst>
          </p:cNvPr>
          <p:cNvSpPr>
            <a:spLocks xmlns:a="http://schemas.openxmlformats.org/drawingml/2006/main" noGrp="1"/>
          </p:cNvSpPr>
          <p:nvPr/>
        </p:nvSpPr>
        <p:spPr>
          <a:xfrm xmlns:a="http://schemas.openxmlformats.org/drawingml/2006/main">
            <a:off x="8239125" y="3333750"/>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850" b="1">
                <a:solidFill>
                  <a:srgbClr val="C33C4D"/>
                </a:solidFill>
                <a:latin typeface="Arial"/>
                <a:ea typeface="Arial"/>
                <a:cs typeface="Arial"/>
              </a:defRPr>
            </a:defPPr>
          </a:lstStyle>
          <a:p xmlns:a="http://schemas.openxmlformats.org/drawingml/2006/main">
            <a:pPr>
              <a:defRPr sz="5850" b="1">
                <a:solidFill>
                  <a:srgbClr val="C33C4D"/>
                </a:solidFill>
                <a:latin typeface="Arial"/>
                <a:ea typeface="Arial"/>
                <a:cs typeface="Arial"/>
              </a:defRPr>
            </a:pPr>
            <a:r>
              <a:rPr sz="5850" b="1">
                <a:solidFill>
                  <a:srgbClr val="C33C4D"/>
                </a:solidFill>
                <a:latin typeface="Arial"/>
                <a:ea typeface="Arial"/>
                <a:cs typeface="Arial"/>
              </a:rPr>
              <a:t>$690</a:t>
            </a:r>
          </a:p>
        </p:txBody>
      </p:sp>
      <p:sp>
        <p:nvSpPr>
          <p:cNvPr id="9" name="">
            <a:extLst xmlns:a="http://schemas.openxmlformats.org/drawingml/2006/main">
              <a:ext uri="{FF2B5EF4-FFF2-40B4-BE49-F238E27FC236}">
                <a16:creationId xmlns:a16="http://schemas.microsoft.com/office/drawing/2014/main" id="{0DFF15B8-AA7F-409D-BFA3-A450CEBCAFA2}"/>
              </a:ext>
            </a:extLst>
          </p:cNvPr>
          <p:cNvSpPr>
            <a:spLocks xmlns:a="http://schemas.openxmlformats.org/drawingml/2006/main" noGrp="1"/>
          </p:cNvSpPr>
          <p:nvPr/>
        </p:nvSpPr>
        <p:spPr>
          <a:xfrm xmlns:a="http://schemas.openxmlformats.org/drawingml/2006/main">
            <a:off x="8239125" y="4381500"/>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38A"/>
                </a:solidFill>
                <a:latin typeface="Arial"/>
                <a:ea typeface="Arial"/>
                <a:cs typeface="Arial"/>
              </a:defRPr>
            </a:defPPr>
          </a:lstStyle>
          <a:p xmlns:a="http://schemas.openxmlformats.org/drawingml/2006/main">
            <a:pPr>
              <a:defRPr sz="1800" b="0">
                <a:solidFill>
                  <a:srgbClr val="66738A"/>
                </a:solidFill>
                <a:latin typeface="Arial"/>
                <a:ea typeface="Arial"/>
                <a:cs typeface="Arial"/>
              </a:defRPr>
            </a:pPr>
            <a:r>
              <a:rPr sz="1800" b="0">
                <a:solidFill>
                  <a:srgbClr val="66738A"/>
                </a:solidFill>
                <a:latin typeface="Arial"/>
                <a:ea typeface="Arial"/>
                <a:cs typeface="Arial"/>
              </a:rPr>
              <a:t>daily exposure after regression</a:t>
            </a:r>
          </a:p>
        </p:txBody>
      </p:sp>
      <p:sp>
        <p:nvSpPr>
          <p:cNvPr id="10" name="">
            <a:extLst xmlns:a="http://schemas.openxmlformats.org/drawingml/2006/main">
              <a:ext uri="{FF2B5EF4-FFF2-40B4-BE49-F238E27FC236}">
                <a16:creationId xmlns:a16="http://schemas.microsoft.com/office/drawing/2014/main" id="{5D7B1766-A79B-4C01-8610-604EF1176654}"/>
              </a:ext>
            </a:extLst>
          </p:cNvPr>
          <p:cNvSpPr>
            <a:spLocks xmlns:a="http://schemas.openxmlformats.org/drawingml/2006/main" noGrp="1"/>
          </p:cNvSpPr>
          <p:nvPr/>
        </p:nvSpPr>
        <p:spPr>
          <a:xfrm xmlns:a="http://schemas.openxmlformats.org/drawingml/2006/main">
            <a:off x="590550" y="6286500"/>
            <a:ext cx="11010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6738A"/>
                </a:solidFill>
                <a:latin typeface="Arial"/>
                <a:ea typeface="Arial"/>
                <a:cs typeface="Arial"/>
              </a:defRPr>
            </a:defPPr>
          </a:lstStyle>
          <a:p xmlns:a="http://schemas.openxmlformats.org/drawingml/2006/main">
            <a:pPr>
              <a:defRPr sz="1125" b="0">
                <a:solidFill>
                  <a:srgbClr val="66738A"/>
                </a:solidFill>
                <a:latin typeface="Arial"/>
                <a:ea typeface="Arial"/>
                <a:cs typeface="Arial"/>
              </a:defRPr>
            </a:pPr>
            <a:r>
              <a:rPr sz="1125" b="0">
                <a:solidFill>
                  <a:srgbClr val="66738A"/>
                </a:solidFill>
                <a:latin typeface="Arial"/>
                <a:ea typeface="Arial"/>
                <a:cs typeface="Arial"/>
              </a:rPr>
              <a:t>Synthetic scenario projection. Exposure is not measured loss or guaranteed savings.</a:t>
            </a:r>
          </a:p>
        </p:txBody>
      </p:sp>
    </p:spTree>
    <p:extLst>
      <p:ext uri="{BB962C8B-B14F-4D97-AF65-F5344CB8AC3E}">
        <p14:creationId xmlns:p14="http://schemas.microsoft.com/office/powerpoint/2010/main" val="878924973"/>
      </p:ext>
    </p:extLst>
  </p:cSld>
</p:sld>
</file>

<file path=ppt/slides/slide3.xml><?xml version="1.0" encoding="utf-8"?>
<p:sld xmlns:p="http://schemas.openxmlformats.org/presentationml/2006/main">
  <p:cSld>
    <p:bg>
      <p:bgPr>
        <a:solidFill xmlns:a="http://schemas.openxmlformats.org/drawingml/2006/main">
          <a:srgbClr val="F7F8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931774D-0021-4948-8DD1-9FE35E58DFEC}"/>
              </a:ext>
            </a:extLst>
          </p:cNvPr>
          <p:cNvSpPr>
            <a:spLocks xmlns:a="http://schemas.openxmlformats.org/drawingml/2006/main" noGrp="1"/>
          </p:cNvSpPr>
          <p:nvPr/>
        </p:nvSpPr>
        <p:spPr>
          <a:xfrm xmlns:a="http://schemas.openxmlformats.org/drawingml/2006/main">
            <a:off x="590550" y="419100"/>
            <a:ext cx="11010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B2029"/>
                </a:solidFill>
                <a:latin typeface="Arial"/>
                <a:ea typeface="Arial"/>
                <a:cs typeface="Arial"/>
              </a:defRPr>
            </a:defPPr>
          </a:lstStyle>
          <a:p xmlns:a="http://schemas.openxmlformats.org/drawingml/2006/main">
            <a:pPr>
              <a:defRPr sz="3150" b="1">
                <a:solidFill>
                  <a:srgbClr val="1B2029"/>
                </a:solidFill>
                <a:latin typeface="Arial"/>
                <a:ea typeface="Arial"/>
                <a:cs typeface="Arial"/>
              </a:defRPr>
            </a:pPr>
            <a:r>
              <a:rPr sz="3150" b="1">
                <a:solidFill>
                  <a:srgbClr val="1B2029"/>
                </a:solidFill>
                <a:latin typeface="Arial"/>
                <a:ea typeface="Arial"/>
                <a:cs typeface="Arial"/>
              </a:rPr>
              <a:t>A developer workspace for business issues</a:t>
            </a:r>
          </a:p>
        </p:txBody>
      </p:sp>
      <p:pic>
        <p:nvPicPr>
          <p:cNvPr id="2" name="">
            <a:extLst xmlns:a="http://schemas.openxmlformats.org/drawingml/2006/main">
              <a:ext uri="{FF2B5EF4-FFF2-40B4-BE49-F238E27FC236}">
                <a16:creationId xmlns:a16="http://schemas.microsoft.com/office/drawing/2014/main" id="{798F4C2C-737E-43A0-A9F7-16FFEC3B0361}"/>
              </a:ext>
            </a:extLst>
          </p:cNvPr>
          <p:cNvPicPr>
            <a:picLocks xmlns:a="http://schemas.openxmlformats.org/drawingml/2006/main" noChangeAspect="1"/>
          </p:cNvPicPr>
          <p:nvPr/>
        </p:nvPicPr>
        <p:blipFill>
          <a:blip xmlns:r="http://schemas.openxmlformats.org/officeDocument/2006/relationships" xmlns:a="http://schemas.openxmlformats.org/drawingml/2006/main" r:embed="R4d7371c69f5c44e6"/>
          <a:stretch xmlns:a="http://schemas.openxmlformats.org/drawingml/2006/main"/>
        </p:blipFill>
        <p:spPr>
          <a:xfrm xmlns:a="http://schemas.openxmlformats.org/drawingml/2006/main">
            <a:off x="2209800" y="1238250"/>
            <a:ext cx="7772400" cy="48577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039D6CC-6F76-4324-B314-F3A027128635}"/>
              </a:ext>
            </a:extLst>
          </p:cNvPr>
          <p:cNvSpPr>
            <a:spLocks xmlns:a="http://schemas.openxmlformats.org/drawingml/2006/main" noGrp="1"/>
          </p:cNvSpPr>
          <p:nvPr/>
        </p:nvSpPr>
        <p:spPr>
          <a:xfrm xmlns:a="http://schemas.openxmlformats.org/drawingml/2006/main">
            <a:off x="590550" y="6286500"/>
            <a:ext cx="11010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6738A"/>
                </a:solidFill>
                <a:latin typeface="Arial"/>
                <a:ea typeface="Arial"/>
                <a:cs typeface="Arial"/>
              </a:defRPr>
            </a:defPPr>
          </a:lstStyle>
          <a:p xmlns:a="http://schemas.openxmlformats.org/drawingml/2006/main">
            <a:pPr>
              <a:defRPr sz="1125" b="0">
                <a:solidFill>
                  <a:srgbClr val="66738A"/>
                </a:solidFill>
                <a:latin typeface="Arial"/>
                <a:ea typeface="Arial"/>
                <a:cs typeface="Arial"/>
              </a:defRPr>
            </a:pPr>
            <a:r>
              <a:rPr sz="1125" b="0">
                <a:solidFill>
                  <a:srgbClr val="66738A"/>
                </a:solidFill>
                <a:latin typeface="Arial"/>
                <a:ea typeface="Arial"/>
                <a:cs typeface="Arial"/>
              </a:rPr>
              <a:t>Working local dashboard. Every financial projection shows its assumptions in the investigation.</a:t>
            </a:r>
          </a:p>
        </p:txBody>
      </p:sp>
    </p:spTree>
    <p:extLst>
      <p:ext uri="{BB962C8B-B14F-4D97-AF65-F5344CB8AC3E}">
        <p14:creationId xmlns:p14="http://schemas.microsoft.com/office/powerpoint/2010/main" val="1624358338"/>
      </p:ext>
    </p:extLst>
  </p:cSld>
</p:sld>
</file>

<file path=ppt/slides/slide4.xml><?xml version="1.0" encoding="utf-8"?>
<p:sld xmlns:p="http://schemas.openxmlformats.org/presentationml/2006/main">
  <p:cSld>
    <p:bg>
      <p:bgPr>
        <a:solidFill xmlns:a="http://schemas.openxmlformats.org/drawingml/2006/main">
          <a:srgbClr val="F7F8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967C0DA-65C3-4F76-9D83-5D2060C97EC1}"/>
              </a:ext>
            </a:extLst>
          </p:cNvPr>
          <p:cNvSpPr>
            <a:spLocks xmlns:a="http://schemas.openxmlformats.org/drawingml/2006/main" noGrp="1"/>
          </p:cNvSpPr>
          <p:nvPr/>
        </p:nvSpPr>
        <p:spPr>
          <a:xfrm xmlns:a="http://schemas.openxmlformats.org/drawingml/2006/main">
            <a:off x="590550" y="419100"/>
            <a:ext cx="11010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B2029"/>
                </a:solidFill>
                <a:latin typeface="Arial"/>
                <a:ea typeface="Arial"/>
                <a:cs typeface="Arial"/>
              </a:defRPr>
            </a:defPPr>
          </a:lstStyle>
          <a:p xmlns:a="http://schemas.openxmlformats.org/drawingml/2006/main">
            <a:pPr>
              <a:defRPr sz="3150" b="1">
                <a:solidFill>
                  <a:srgbClr val="1B2029"/>
                </a:solidFill>
                <a:latin typeface="Arial"/>
                <a:ea typeface="Arial"/>
                <a:cs typeface="Arial"/>
              </a:defRPr>
            </a:pPr>
            <a:r>
              <a:rPr sz="3150" b="1">
                <a:solidFill>
                  <a:srgbClr val="1B2029"/>
                </a:solidFill>
                <a:latin typeface="Arial"/>
                <a:ea typeface="Arial"/>
                <a:cs typeface="Arial"/>
              </a:rPr>
              <a:t>The regression is concentrated in Safari and PayPal</a:t>
            </a:r>
          </a:p>
        </p:txBody>
      </p:sp>
      <p:sp>
        <p:nvSpPr>
          <p:cNvPr id="2" name="">
            <a:extLst xmlns:a="http://schemas.openxmlformats.org/drawingml/2006/main">
              <a:ext uri="{FF2B5EF4-FFF2-40B4-BE49-F238E27FC236}">
                <a16:creationId xmlns:a16="http://schemas.microsoft.com/office/drawing/2014/main" id="{90689830-587B-4369-89D1-B46D953B9EE4}"/>
              </a:ext>
            </a:extLst>
          </p:cNvPr>
          <p:cNvSpPr>
            <a:spLocks xmlns:a="http://schemas.openxmlformats.org/drawingml/2006/main" noGrp="1"/>
          </p:cNvSpPr>
          <p:nvPr/>
        </p:nvSpPr>
        <p:spPr>
          <a:xfrm xmlns:a="http://schemas.openxmlformats.org/drawingml/2006/main">
            <a:off x="619125" y="1590675"/>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100" b="1">
                <a:solidFill>
                  <a:srgbClr val="1B2029"/>
                </a:solidFill>
                <a:latin typeface="Arial"/>
                <a:ea typeface="Arial"/>
                <a:cs typeface="Arial"/>
              </a:defRPr>
            </a:defPPr>
          </a:lstStyle>
          <a:p xmlns:a="http://schemas.openxmlformats.org/drawingml/2006/main">
            <a:pPr>
              <a:defRPr sz="5100" b="1">
                <a:solidFill>
                  <a:srgbClr val="1B2029"/>
                </a:solidFill>
                <a:latin typeface="Arial"/>
                <a:ea typeface="Arial"/>
                <a:cs typeface="Arial"/>
              </a:defRPr>
            </a:pPr>
            <a:r>
              <a:rPr sz="5100" b="1">
                <a:solidFill>
                  <a:srgbClr val="1B2029"/>
                </a:solidFill>
                <a:latin typeface="Arial"/>
                <a:ea typeface="Arial"/>
                <a:cs typeface="Arial"/>
              </a:rPr>
              <a:t>71.7%</a:t>
            </a:r>
          </a:p>
        </p:txBody>
      </p:sp>
      <p:sp>
        <p:nvSpPr>
          <p:cNvPr id="3" name="">
            <a:extLst xmlns:a="http://schemas.openxmlformats.org/drawingml/2006/main">
              <a:ext uri="{FF2B5EF4-FFF2-40B4-BE49-F238E27FC236}">
                <a16:creationId xmlns:a16="http://schemas.microsoft.com/office/drawing/2014/main" id="{0F998900-D21F-4AF2-A9B8-3BC7B706487C}"/>
              </a:ext>
            </a:extLst>
          </p:cNvPr>
          <p:cNvSpPr>
            <a:spLocks xmlns:a="http://schemas.openxmlformats.org/drawingml/2006/main" noGrp="1"/>
          </p:cNvSpPr>
          <p:nvPr/>
        </p:nvSpPr>
        <p:spPr>
          <a:xfrm xmlns:a="http://schemas.openxmlformats.org/drawingml/2006/main">
            <a:off x="619125" y="2438400"/>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6738A"/>
                </a:solidFill>
                <a:latin typeface="Arial"/>
                <a:ea typeface="Arial"/>
                <a:cs typeface="Arial"/>
              </a:defRPr>
            </a:defPPr>
          </a:lstStyle>
          <a:p xmlns:a="http://schemas.openxmlformats.org/drawingml/2006/main">
            <a:pPr>
              <a:defRPr sz="1725" b="0">
                <a:solidFill>
                  <a:srgbClr val="66738A"/>
                </a:solidFill>
                <a:latin typeface="Arial"/>
                <a:ea typeface="Arial"/>
                <a:cs typeface="Arial"/>
              </a:defRPr>
            </a:pPr>
            <a:r>
              <a:rPr sz="1725" b="0">
                <a:solidFill>
                  <a:srgbClr val="66738A"/>
                </a:solidFill>
                <a:latin typeface="Arial"/>
                <a:ea typeface="Arial"/>
                <a:cs typeface="Arial"/>
              </a:rPr>
              <a:t>baseline completion</a:t>
            </a:r>
          </a:p>
        </p:txBody>
      </p:sp>
      <p:sp>
        <p:nvSpPr>
          <p:cNvPr id="4" name="">
            <a:extLst xmlns:a="http://schemas.openxmlformats.org/drawingml/2006/main">
              <a:ext uri="{FF2B5EF4-FFF2-40B4-BE49-F238E27FC236}">
                <a16:creationId xmlns:a16="http://schemas.microsoft.com/office/drawing/2014/main" id="{7A6EBD72-9FB2-4461-BE6E-3D88E51DFDF5}"/>
              </a:ext>
            </a:extLst>
          </p:cNvPr>
          <p:cNvSpPr>
            <a:spLocks xmlns:a="http://schemas.openxmlformats.org/drawingml/2006/main" noGrp="1"/>
          </p:cNvSpPr>
          <p:nvPr/>
        </p:nvSpPr>
        <p:spPr>
          <a:xfrm xmlns:a="http://schemas.openxmlformats.org/drawingml/2006/main">
            <a:off x="619125" y="3267075"/>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100" b="1">
                <a:solidFill>
                  <a:srgbClr val="C33C4D"/>
                </a:solidFill>
                <a:latin typeface="Arial"/>
                <a:ea typeface="Arial"/>
                <a:cs typeface="Arial"/>
              </a:defRPr>
            </a:defPPr>
          </a:lstStyle>
          <a:p xmlns:a="http://schemas.openxmlformats.org/drawingml/2006/main">
            <a:pPr>
              <a:defRPr sz="5100" b="1">
                <a:solidFill>
                  <a:srgbClr val="C33C4D"/>
                </a:solidFill>
                <a:latin typeface="Arial"/>
                <a:ea typeface="Arial"/>
                <a:cs typeface="Arial"/>
              </a:defRPr>
            </a:pPr>
            <a:r>
              <a:rPr sz="5100" b="1">
                <a:solidFill>
                  <a:srgbClr val="C33C4D"/>
                </a:solidFill>
                <a:latin typeface="Arial"/>
                <a:ea typeface="Arial"/>
                <a:cs typeface="Arial"/>
              </a:rPr>
              <a:t>37.9%</a:t>
            </a:r>
          </a:p>
        </p:txBody>
      </p:sp>
      <p:sp>
        <p:nvSpPr>
          <p:cNvPr id="5" name="">
            <a:extLst xmlns:a="http://schemas.openxmlformats.org/drawingml/2006/main">
              <a:ext uri="{FF2B5EF4-FFF2-40B4-BE49-F238E27FC236}">
                <a16:creationId xmlns:a16="http://schemas.microsoft.com/office/drawing/2014/main" id="{B4FABB2B-2249-4AA4-9D18-E91569C98537}"/>
              </a:ext>
            </a:extLst>
          </p:cNvPr>
          <p:cNvSpPr>
            <a:spLocks xmlns:a="http://schemas.openxmlformats.org/drawingml/2006/main" noGrp="1"/>
          </p:cNvSpPr>
          <p:nvPr/>
        </p:nvSpPr>
        <p:spPr>
          <a:xfrm xmlns:a="http://schemas.openxmlformats.org/drawingml/2006/main">
            <a:off x="619125" y="4133850"/>
            <a:ext cx="333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6738A"/>
                </a:solidFill>
                <a:latin typeface="Arial"/>
                <a:ea typeface="Arial"/>
                <a:cs typeface="Arial"/>
              </a:defRPr>
            </a:defPPr>
          </a:lstStyle>
          <a:p xmlns:a="http://schemas.openxmlformats.org/drawingml/2006/main">
            <a:pPr>
              <a:defRPr sz="1725" b="0">
                <a:solidFill>
                  <a:srgbClr val="66738A"/>
                </a:solidFill>
                <a:latin typeface="Arial"/>
                <a:ea typeface="Arial"/>
                <a:cs typeface="Arial"/>
              </a:defRPr>
            </a:pPr>
            <a:r>
              <a:rPr sz="1725" b="0">
                <a:solidFill>
                  <a:srgbClr val="66738A"/>
                </a:solidFill>
                <a:latin typeface="Arial"/>
                <a:ea typeface="Arial"/>
                <a:cs typeface="Arial"/>
              </a:rPr>
              <a:t>current Safari / PayPal</a:t>
            </a:r>
          </a:p>
        </p:txBody>
      </p:sp>
      <p:sp>
        <p:nvSpPr>
          <p:cNvPr id="6" name="">
            <a:extLst xmlns:a="http://schemas.openxmlformats.org/drawingml/2006/main">
              <a:ext uri="{FF2B5EF4-FFF2-40B4-BE49-F238E27FC236}">
                <a16:creationId xmlns:a16="http://schemas.microsoft.com/office/drawing/2014/main" id="{410D3B6E-64F5-4562-934A-13FFEC9B3503}"/>
              </a:ext>
            </a:extLst>
          </p:cNvPr>
          <p:cNvSpPr>
            <a:spLocks xmlns:a="http://schemas.openxmlformats.org/drawingml/2006/main" noGrp="1"/>
          </p:cNvSpPr>
          <p:nvPr/>
        </p:nvSpPr>
        <p:spPr>
          <a:xfrm xmlns:a="http://schemas.openxmlformats.org/drawingml/2006/main">
            <a:off x="619125" y="5191125"/>
            <a:ext cx="3476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B2029"/>
                </a:solidFill>
                <a:latin typeface="Arial"/>
                <a:ea typeface="Arial"/>
                <a:cs typeface="Arial"/>
              </a:defRPr>
            </a:defPPr>
          </a:lstStyle>
          <a:p xmlns:a="http://schemas.openxmlformats.org/drawingml/2006/main">
            <a:pPr>
              <a:defRPr sz="1875" b="0">
                <a:solidFill>
                  <a:srgbClr val="1B2029"/>
                </a:solidFill>
                <a:latin typeface="Arial"/>
                <a:ea typeface="Arial"/>
                <a:cs typeface="Arial"/>
              </a:defRPr>
            </a:pPr>
            <a:r>
              <a:rPr sz="1875" b="0">
                <a:solidFill>
                  <a:srgbClr val="1B2029"/>
                </a:solidFill>
                <a:latin typeface="Arial"/>
                <a:ea typeface="Arial"/>
                <a:cs typeface="Arial"/>
              </a:rPr>
              <a:t>Other segments remain</a:t>
            </a:r>
          </a:p>
          <a:p xmlns:a="http://schemas.openxmlformats.org/drawingml/2006/main">
            <a:pPr>
              <a:defRPr sz="1875" b="0">
                <a:solidFill>
                  <a:srgbClr val="1B2029"/>
                </a:solidFill>
                <a:latin typeface="Arial"/>
                <a:ea typeface="Arial"/>
                <a:cs typeface="Arial"/>
              </a:defRPr>
            </a:pPr>
            <a:r>
              <a:rPr sz="1875" b="0">
                <a:solidFill>
                  <a:srgbClr val="1B2029"/>
                </a:solidFill>
                <a:latin typeface="Arial"/>
                <a:ea typeface="Arial"/>
                <a:cs typeface="Arial"/>
              </a:rPr>
              <a:t>close to baseline</a:t>
            </a:r>
          </a:p>
        </p:txBody>
      </p:sp>
      <p:pic>
        <p:nvPicPr>
          <p:cNvPr id="7" name="">
            <a:extLst xmlns:a="http://schemas.openxmlformats.org/drawingml/2006/main">
              <a:ext uri="{FF2B5EF4-FFF2-40B4-BE49-F238E27FC236}">
                <a16:creationId xmlns:a16="http://schemas.microsoft.com/office/drawing/2014/main" id="{8D5F7FAF-52D8-413A-87B4-5866E306798A}"/>
              </a:ext>
            </a:extLst>
          </p:cNvPr>
          <p:cNvPicPr>
            <a:picLocks xmlns:a="http://schemas.openxmlformats.org/drawingml/2006/main" noChangeAspect="1"/>
          </p:cNvPicPr>
          <p:nvPr/>
        </p:nvPicPr>
        <p:blipFill>
          <a:blip xmlns:r="http://schemas.openxmlformats.org/officeDocument/2006/relationships" xmlns:a="http://schemas.openxmlformats.org/drawingml/2006/main" r:embed="R8387e9416cf0430e"/>
          <a:stretch xmlns:a="http://schemas.openxmlformats.org/drawingml/2006/main"/>
        </p:blipFill>
        <p:spPr>
          <a:xfrm xmlns:a="http://schemas.openxmlformats.org/drawingml/2006/main">
            <a:off x="4333875" y="1338858"/>
            <a:ext cx="7267575" cy="4542234"/>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6FD24BD-0B6B-4CEA-91B1-752C47718F09}"/>
              </a:ext>
            </a:extLst>
          </p:cNvPr>
          <p:cNvSpPr>
            <a:spLocks xmlns:a="http://schemas.openxmlformats.org/drawingml/2006/main" noGrp="1"/>
          </p:cNvSpPr>
          <p:nvPr/>
        </p:nvSpPr>
        <p:spPr>
          <a:xfrm xmlns:a="http://schemas.openxmlformats.org/drawingml/2006/main">
            <a:off x="590550" y="6286500"/>
            <a:ext cx="11010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6738A"/>
                </a:solidFill>
                <a:latin typeface="Arial"/>
                <a:ea typeface="Arial"/>
                <a:cs typeface="Arial"/>
              </a:defRPr>
            </a:defPPr>
          </a:lstStyle>
          <a:p xmlns:a="http://schemas.openxmlformats.org/drawingml/2006/main">
            <a:pPr>
              <a:defRPr sz="1125" b="0">
                <a:solidFill>
                  <a:srgbClr val="66738A"/>
                </a:solidFill>
                <a:latin typeface="Arial"/>
                <a:ea typeface="Arial"/>
                <a:cs typeface="Arial"/>
              </a:defRPr>
            </a:pPr>
            <a:r>
              <a:rPr sz="1125" b="0">
                <a:solidFill>
                  <a:srgbClr val="66738A"/>
                </a:solidFill>
                <a:latin typeface="Arial"/>
                <a:ea typeface="Arial"/>
                <a:cs typeface="Arial"/>
              </a:rPr>
              <a:t>Segment evidence supports a release-regression hypothesis. It does not establish causation.</a:t>
            </a:r>
          </a:p>
        </p:txBody>
      </p:sp>
    </p:spTree>
    <p:extLst>
      <p:ext uri="{BB962C8B-B14F-4D97-AF65-F5344CB8AC3E}">
        <p14:creationId xmlns:p14="http://schemas.microsoft.com/office/powerpoint/2010/main" val="143590840"/>
      </p:ext>
    </p:extLst>
  </p:cSld>
</p:sld>
</file>

<file path=ppt/slides/slide5.xml><?xml version="1.0" encoding="utf-8"?>
<p:sld xmlns:p="http://schemas.openxmlformats.org/presentationml/2006/main">
  <p:cSld>
    <p:bg>
      <p:bgPr>
        <a:solidFill xmlns:a="http://schemas.openxmlformats.org/drawingml/2006/main">
          <a:srgbClr val="F7F8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5592596-247E-4335-AA42-743A2DF6932C}"/>
              </a:ext>
            </a:extLst>
          </p:cNvPr>
          <p:cNvSpPr>
            <a:spLocks xmlns:a="http://schemas.openxmlformats.org/drawingml/2006/main" noGrp="1"/>
          </p:cNvSpPr>
          <p:nvPr/>
        </p:nvSpPr>
        <p:spPr>
          <a:xfrm xmlns:a="http://schemas.openxmlformats.org/drawingml/2006/main">
            <a:off x="590550" y="419100"/>
            <a:ext cx="11010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B2029"/>
                </a:solidFill>
                <a:latin typeface="Arial"/>
                <a:ea typeface="Arial"/>
                <a:cs typeface="Arial"/>
              </a:defRPr>
            </a:defPPr>
          </a:lstStyle>
          <a:p xmlns:a="http://schemas.openxmlformats.org/drawingml/2006/main">
            <a:pPr>
              <a:defRPr sz="3150" b="1">
                <a:solidFill>
                  <a:srgbClr val="1B2029"/>
                </a:solidFill>
                <a:latin typeface="Arial"/>
                <a:ea typeface="Arial"/>
                <a:cs typeface="Arial"/>
              </a:defRPr>
            </a:pPr>
            <a:r>
              <a:rPr sz="3150" b="1">
                <a:solidFill>
                  <a:srgbClr val="1B2029"/>
                </a:solidFill>
                <a:latin typeface="Arial"/>
                <a:ea typeface="Arial"/>
                <a:cs typeface="Arial"/>
              </a:rPr>
              <a:t>The relevant commit is visible with its diff</a:t>
            </a:r>
          </a:p>
        </p:txBody>
      </p:sp>
      <p:sp>
        <p:nvSpPr>
          <p:cNvPr id="2" name="">
            <a:extLst xmlns:a="http://schemas.openxmlformats.org/drawingml/2006/main">
              <a:ext uri="{FF2B5EF4-FFF2-40B4-BE49-F238E27FC236}">
                <a16:creationId xmlns:a16="http://schemas.microsoft.com/office/drawing/2014/main" id="{016D7449-897D-41B6-AD94-E19B4ADEA843}"/>
              </a:ext>
            </a:extLst>
          </p:cNvPr>
          <p:cNvSpPr>
            <a:spLocks xmlns:a="http://schemas.openxmlformats.org/drawingml/2006/main" noGrp="1"/>
          </p:cNvSpPr>
          <p:nvPr/>
        </p:nvSpPr>
        <p:spPr>
          <a:xfrm xmlns:a="http://schemas.openxmlformats.org/drawingml/2006/main">
            <a:off x="619125" y="16954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315FAE"/>
                </a:solidFill>
                <a:latin typeface="Arial"/>
                <a:ea typeface="Arial"/>
                <a:cs typeface="Arial"/>
              </a:defRPr>
            </a:defPPr>
          </a:lstStyle>
          <a:p xmlns:a="http://schemas.openxmlformats.org/drawingml/2006/main">
            <a:pPr>
              <a:defRPr sz="3300" b="1">
                <a:solidFill>
                  <a:srgbClr val="315FAE"/>
                </a:solidFill>
                <a:latin typeface="Arial"/>
                <a:ea typeface="Arial"/>
                <a:cs typeface="Arial"/>
              </a:defRPr>
            </a:pPr>
            <a:r>
              <a:rPr sz="3300" b="1">
                <a:solidFill>
                  <a:srgbClr val="315FAE"/>
                </a:solidFill>
                <a:latin typeface="Arial"/>
                <a:ea typeface="Arial"/>
                <a:cs typeface="Arial"/>
              </a:rPr>
              <a:t>a8f31c2</a:t>
            </a:r>
          </a:p>
        </p:txBody>
      </p:sp>
      <p:sp>
        <p:nvSpPr>
          <p:cNvPr id="3" name="">
            <a:extLst xmlns:a="http://schemas.openxmlformats.org/drawingml/2006/main">
              <a:ext uri="{FF2B5EF4-FFF2-40B4-BE49-F238E27FC236}">
                <a16:creationId xmlns:a16="http://schemas.microsoft.com/office/drawing/2014/main" id="{978151BB-96E3-4E78-9A22-EE0443881EBA}"/>
              </a:ext>
            </a:extLst>
          </p:cNvPr>
          <p:cNvSpPr>
            <a:spLocks xmlns:a="http://schemas.openxmlformats.org/drawingml/2006/main" noGrp="1"/>
          </p:cNvSpPr>
          <p:nvPr/>
        </p:nvSpPr>
        <p:spPr>
          <a:xfrm xmlns:a="http://schemas.openxmlformats.org/drawingml/2006/main">
            <a:off x="619125" y="2476500"/>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B2029"/>
                </a:solidFill>
                <a:latin typeface="Arial"/>
                <a:ea typeface="Arial"/>
                <a:cs typeface="Arial"/>
              </a:defRPr>
            </a:defPPr>
          </a:lstStyle>
          <a:p xmlns:a="http://schemas.openxmlformats.org/drawingml/2006/main">
            <a:pPr>
              <a:defRPr sz="2100" b="1">
                <a:solidFill>
                  <a:srgbClr val="1B2029"/>
                </a:solidFill>
                <a:latin typeface="Arial"/>
                <a:ea typeface="Arial"/>
                <a:cs typeface="Arial"/>
              </a:defRPr>
            </a:pPr>
            <a:r>
              <a:rPr sz="2100" b="1">
                <a:solidFill>
                  <a:srgbClr val="1B2029"/>
                </a:solidFill>
                <a:latin typeface="Arial"/>
                <a:ea typeface="Arial"/>
                <a:cs typeface="Arial"/>
              </a:rPr>
              <a:t>Payment redirect</a:t>
            </a:r>
          </a:p>
          <a:p xmlns:a="http://schemas.openxmlformats.org/drawingml/2006/main">
            <a:pPr>
              <a:defRPr sz="2100" b="1">
                <a:solidFill>
                  <a:srgbClr val="1B2029"/>
                </a:solidFill>
                <a:latin typeface="Arial"/>
                <a:ea typeface="Arial"/>
                <a:cs typeface="Arial"/>
              </a:defRPr>
            </a:pPr>
            <a:r>
              <a:rPr sz="2100" b="1">
                <a:solidFill>
                  <a:srgbClr val="1B2029"/>
                </a:solidFill>
                <a:latin typeface="Arial"/>
                <a:ea typeface="Arial"/>
                <a:cs typeface="Arial"/>
              </a:rPr>
              <a:t>token handling</a:t>
            </a:r>
          </a:p>
        </p:txBody>
      </p:sp>
      <p:sp>
        <p:nvSpPr>
          <p:cNvPr id="4" name="">
            <a:extLst xmlns:a="http://schemas.openxmlformats.org/drawingml/2006/main">
              <a:ext uri="{FF2B5EF4-FFF2-40B4-BE49-F238E27FC236}">
                <a16:creationId xmlns:a16="http://schemas.microsoft.com/office/drawing/2014/main" id="{244EBB49-3401-43CF-AA26-5B8F355C8409}"/>
              </a:ext>
            </a:extLst>
          </p:cNvPr>
          <p:cNvSpPr>
            <a:spLocks xmlns:a="http://schemas.openxmlformats.org/drawingml/2006/main" noGrp="1"/>
          </p:cNvSpPr>
          <p:nvPr/>
        </p:nvSpPr>
        <p:spPr>
          <a:xfrm xmlns:a="http://schemas.openxmlformats.org/drawingml/2006/main">
            <a:off x="619125" y="3867150"/>
            <a:ext cx="342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6738A"/>
                </a:solidFill>
                <a:latin typeface="Arial"/>
                <a:ea typeface="Arial"/>
                <a:cs typeface="Arial"/>
              </a:defRPr>
            </a:defPPr>
          </a:lstStyle>
          <a:p xmlns:a="http://schemas.openxmlformats.org/drawingml/2006/main">
            <a:pPr>
              <a:defRPr sz="1950" b="0">
                <a:solidFill>
                  <a:srgbClr val="66738A"/>
                </a:solidFill>
                <a:latin typeface="Arial"/>
                <a:ea typeface="Arial"/>
                <a:cs typeface="Arial"/>
              </a:defRPr>
            </a:pPr>
            <a:r>
              <a:rPr sz="1950" b="0">
                <a:solidFill>
                  <a:srgbClr val="66738A"/>
                </a:solidFill>
                <a:latin typeface="Arial"/>
                <a:ea typeface="Arial"/>
                <a:cs typeface="Arial"/>
              </a:rPr>
              <a:t>7 minutes before</a:t>
            </a:r>
          </a:p>
          <a:p xmlns:a="http://schemas.openxmlformats.org/drawingml/2006/main">
            <a:pPr>
              <a:defRPr sz="1950" b="0">
                <a:solidFill>
                  <a:srgbClr val="66738A"/>
                </a:solidFill>
                <a:latin typeface="Arial"/>
                <a:ea typeface="Arial"/>
                <a:cs typeface="Arial"/>
              </a:defRPr>
            </a:pPr>
            <a:r>
              <a:rPr sz="1950" b="0">
                <a:solidFill>
                  <a:srgbClr val="66738A"/>
                </a:solidFill>
                <a:latin typeface="Arial"/>
                <a:ea typeface="Arial"/>
                <a:cs typeface="Arial"/>
              </a:rPr>
              <a:t>the simulated anomaly</a:t>
            </a:r>
          </a:p>
        </p:txBody>
      </p:sp>
      <p:sp>
        <p:nvSpPr>
          <p:cNvPr id="5" name="">
            <a:extLst xmlns:a="http://schemas.openxmlformats.org/drawingml/2006/main">
              <a:ext uri="{FF2B5EF4-FFF2-40B4-BE49-F238E27FC236}">
                <a16:creationId xmlns:a16="http://schemas.microsoft.com/office/drawing/2014/main" id="{1E0FA232-5BB9-4112-8B52-13BF8F8BBFA3}"/>
              </a:ext>
            </a:extLst>
          </p:cNvPr>
          <p:cNvSpPr>
            <a:spLocks xmlns:a="http://schemas.openxmlformats.org/drawingml/2006/main" noGrp="1"/>
          </p:cNvSpPr>
          <p:nvPr/>
        </p:nvSpPr>
        <p:spPr>
          <a:xfrm xmlns:a="http://schemas.openxmlformats.org/drawingml/2006/main">
            <a:off x="619125" y="5219700"/>
            <a:ext cx="328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B2029"/>
                </a:solidFill>
                <a:latin typeface="Arial"/>
                <a:ea typeface="Arial"/>
                <a:cs typeface="Arial"/>
              </a:defRPr>
            </a:defPPr>
          </a:lstStyle>
          <a:p xmlns:a="http://schemas.openxmlformats.org/drawingml/2006/main">
            <a:pPr>
              <a:defRPr sz="3150" b="1">
                <a:solidFill>
                  <a:srgbClr val="1B2029"/>
                </a:solidFill>
                <a:latin typeface="Arial"/>
                <a:ea typeface="Arial"/>
                <a:cs typeface="Arial"/>
              </a:defRPr>
            </a:pPr>
            <a:r>
              <a:rPr sz="3150" b="1">
                <a:solidFill>
                  <a:srgbClr val="1B2029"/>
                </a:solidFill>
                <a:latin typeface="Arial"/>
                <a:ea typeface="Arial"/>
                <a:cs typeface="Arial"/>
              </a:rPr>
              <a:t>96 / 100</a:t>
            </a:r>
          </a:p>
        </p:txBody>
      </p:sp>
      <p:pic>
        <p:nvPicPr>
          <p:cNvPr id="6" name="">
            <a:extLst xmlns:a="http://schemas.openxmlformats.org/drawingml/2006/main">
              <a:ext uri="{FF2B5EF4-FFF2-40B4-BE49-F238E27FC236}">
                <a16:creationId xmlns:a16="http://schemas.microsoft.com/office/drawing/2014/main" id="{3E0CE410-B828-44BB-9585-86B7C38B3361}"/>
              </a:ext>
            </a:extLst>
          </p:cNvPr>
          <p:cNvPicPr>
            <a:picLocks xmlns:a="http://schemas.openxmlformats.org/drawingml/2006/main" noChangeAspect="1"/>
          </p:cNvPicPr>
          <p:nvPr/>
        </p:nvPicPr>
        <p:blipFill>
          <a:blip xmlns:r="http://schemas.openxmlformats.org/officeDocument/2006/relationships" xmlns:a="http://schemas.openxmlformats.org/drawingml/2006/main" r:embed="R1e0be337df0e45dc"/>
          <a:stretch xmlns:a="http://schemas.openxmlformats.org/drawingml/2006/main"/>
        </p:blipFill>
        <p:spPr>
          <a:xfrm xmlns:a="http://schemas.openxmlformats.org/drawingml/2006/main">
            <a:off x="4305300" y="1358503"/>
            <a:ext cx="7296150" cy="456009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B74CBE0-C5DE-4EFC-8964-42F7567F5B4B}"/>
              </a:ext>
            </a:extLst>
          </p:cNvPr>
          <p:cNvSpPr>
            <a:spLocks xmlns:a="http://schemas.openxmlformats.org/drawingml/2006/main" noGrp="1"/>
          </p:cNvSpPr>
          <p:nvPr/>
        </p:nvSpPr>
        <p:spPr>
          <a:xfrm xmlns:a="http://schemas.openxmlformats.org/drawingml/2006/main">
            <a:off x="590550" y="6286500"/>
            <a:ext cx="11010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6738A"/>
                </a:solidFill>
                <a:latin typeface="Arial"/>
                <a:ea typeface="Arial"/>
                <a:cs typeface="Arial"/>
              </a:defRPr>
            </a:defPPr>
          </a:lstStyle>
          <a:p xmlns:a="http://schemas.openxmlformats.org/drawingml/2006/main">
            <a:pPr>
              <a:defRPr sz="1125" b="0">
                <a:solidFill>
                  <a:srgbClr val="66738A"/>
                </a:solidFill>
                <a:latin typeface="Arial"/>
                <a:ea typeface="Arial"/>
                <a:cs typeface="Arial"/>
              </a:defRPr>
            </a:pPr>
            <a:r>
              <a:rPr sz="1125" b="0">
                <a:solidFill>
                  <a:srgbClr val="66738A"/>
                </a:solidFill>
                <a:latin typeface="Arial"/>
                <a:ea typeface="Arial"/>
                <a:cs typeface="Arial"/>
              </a:rPr>
              <a:t>Heuristic association score. Production attribution needs a verified deployment-to-commit mapping.</a:t>
            </a:r>
          </a:p>
        </p:txBody>
      </p:sp>
    </p:spTree>
    <p:extLst>
      <p:ext uri="{BB962C8B-B14F-4D97-AF65-F5344CB8AC3E}">
        <p14:creationId xmlns:p14="http://schemas.microsoft.com/office/powerpoint/2010/main" val="1434253945"/>
      </p:ext>
    </p:extLst>
  </p:cSld>
</p:sld>
</file>

<file path=ppt/slides/slide6.xml><?xml version="1.0" encoding="utf-8"?>
<p:sld xmlns:p="http://schemas.openxmlformats.org/presentationml/2006/main">
  <p:cSld>
    <p:bg>
      <p:bgPr>
        <a:solidFill xmlns:a="http://schemas.openxmlformats.org/drawingml/2006/main">
          <a:srgbClr val="F7F8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3CB7CCF-8281-4DDA-A147-0250975B7572}"/>
              </a:ext>
            </a:extLst>
          </p:cNvPr>
          <p:cNvSpPr>
            <a:spLocks xmlns:a="http://schemas.openxmlformats.org/drawingml/2006/main" noGrp="1"/>
          </p:cNvSpPr>
          <p:nvPr/>
        </p:nvSpPr>
        <p:spPr>
          <a:xfrm xmlns:a="http://schemas.openxmlformats.org/drawingml/2006/main">
            <a:off x="590550" y="419100"/>
            <a:ext cx="11010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B2029"/>
                </a:solidFill>
                <a:latin typeface="Arial"/>
                <a:ea typeface="Arial"/>
                <a:cs typeface="Arial"/>
              </a:defRPr>
            </a:defPPr>
          </a:lstStyle>
          <a:p xmlns:a="http://schemas.openxmlformats.org/drawingml/2006/main">
            <a:pPr>
              <a:defRPr sz="3150" b="1">
                <a:solidFill>
                  <a:srgbClr val="1B2029"/>
                </a:solidFill>
                <a:latin typeface="Arial"/>
                <a:ea typeface="Arial"/>
                <a:cs typeface="Arial"/>
              </a:defRPr>
            </a:pPr>
            <a:r>
              <a:rPr sz="3150" b="1">
                <a:solidFill>
                  <a:srgbClr val="1B2029"/>
                </a:solidFill>
                <a:latin typeface="Arial"/>
                <a:ea typeface="Arial"/>
                <a:cs typeface="Arial"/>
              </a:rPr>
              <a:t>Recovery follows measured customer outcomes</a:t>
            </a:r>
          </a:p>
        </p:txBody>
      </p:sp>
      <p:sp>
        <p:nvSpPr>
          <p:cNvPr id="2" name="">
            <a:extLst xmlns:a="http://schemas.openxmlformats.org/drawingml/2006/main">
              <a:ext uri="{FF2B5EF4-FFF2-40B4-BE49-F238E27FC236}">
                <a16:creationId xmlns:a16="http://schemas.microsoft.com/office/drawing/2014/main" id="{77D4FD95-7878-4E05-B4FB-232480BE8381}"/>
              </a:ext>
            </a:extLst>
          </p:cNvPr>
          <p:cNvSpPr>
            <a:spLocks xmlns:a="http://schemas.openxmlformats.org/drawingml/2006/main" noGrp="1"/>
          </p:cNvSpPr>
          <p:nvPr/>
        </p:nvSpPr>
        <p:spPr>
          <a:xfrm xmlns:a="http://schemas.openxmlformats.org/drawingml/2006/main">
            <a:off x="619125" y="2009775"/>
            <a:ext cx="3524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850" b="1">
                <a:solidFill>
                  <a:srgbClr val="27825C"/>
                </a:solidFill>
                <a:latin typeface="Arial"/>
                <a:ea typeface="Arial"/>
                <a:cs typeface="Arial"/>
              </a:defRPr>
            </a:defPPr>
          </a:lstStyle>
          <a:p xmlns:a="http://schemas.openxmlformats.org/drawingml/2006/main">
            <a:pPr>
              <a:defRPr sz="5850" b="1">
                <a:solidFill>
                  <a:srgbClr val="27825C"/>
                </a:solidFill>
                <a:latin typeface="Arial"/>
                <a:ea typeface="Arial"/>
                <a:cs typeface="Arial"/>
              </a:defRPr>
            </a:pPr>
            <a:r>
              <a:rPr sz="5850" b="1">
                <a:solidFill>
                  <a:srgbClr val="27825C"/>
                </a:solidFill>
                <a:latin typeface="Arial"/>
                <a:ea typeface="Arial"/>
                <a:cs typeface="Arial"/>
              </a:rPr>
              <a:t>71.8%</a:t>
            </a:r>
          </a:p>
        </p:txBody>
      </p:sp>
      <p:sp>
        <p:nvSpPr>
          <p:cNvPr id="3" name="">
            <a:extLst xmlns:a="http://schemas.openxmlformats.org/drawingml/2006/main">
              <a:ext uri="{FF2B5EF4-FFF2-40B4-BE49-F238E27FC236}">
                <a16:creationId xmlns:a16="http://schemas.microsoft.com/office/drawing/2014/main" id="{DB7699AB-D798-4FD4-B225-CDD943A57224}"/>
              </a:ext>
            </a:extLst>
          </p:cNvPr>
          <p:cNvSpPr>
            <a:spLocks xmlns:a="http://schemas.openxmlformats.org/drawingml/2006/main" noGrp="1"/>
          </p:cNvSpPr>
          <p:nvPr/>
        </p:nvSpPr>
        <p:spPr>
          <a:xfrm xmlns:a="http://schemas.openxmlformats.org/drawingml/2006/main">
            <a:off x="619125" y="3190875"/>
            <a:ext cx="352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029"/>
                </a:solidFill>
                <a:latin typeface="Arial"/>
                <a:ea typeface="Arial"/>
                <a:cs typeface="Arial"/>
              </a:defRPr>
            </a:defPPr>
          </a:lstStyle>
          <a:p xmlns:a="http://schemas.openxmlformats.org/drawingml/2006/main">
            <a:pPr>
              <a:defRPr sz="2100" b="0">
                <a:solidFill>
                  <a:srgbClr val="1B2029"/>
                </a:solidFill>
                <a:latin typeface="Arial"/>
                <a:ea typeface="Arial"/>
                <a:cs typeface="Arial"/>
              </a:defRPr>
            </a:pPr>
            <a:r>
              <a:rPr sz="2100" b="0">
                <a:solidFill>
                  <a:srgbClr val="1B2029"/>
                </a:solidFill>
                <a:latin typeface="Arial"/>
                <a:ea typeface="Arial"/>
                <a:cs typeface="Arial"/>
              </a:rPr>
              <a:t>recovered checkout completion</a:t>
            </a:r>
          </a:p>
        </p:txBody>
      </p:sp>
      <p:sp>
        <p:nvSpPr>
          <p:cNvPr id="4" name="">
            <a:extLst xmlns:a="http://schemas.openxmlformats.org/drawingml/2006/main">
              <a:ext uri="{FF2B5EF4-FFF2-40B4-BE49-F238E27FC236}">
                <a16:creationId xmlns:a16="http://schemas.microsoft.com/office/drawing/2014/main" id="{525D6E73-C985-452A-B808-ED78FDCDA0A2}"/>
              </a:ext>
            </a:extLst>
          </p:cNvPr>
          <p:cNvSpPr>
            <a:spLocks xmlns:a="http://schemas.openxmlformats.org/drawingml/2006/main" noGrp="1"/>
          </p:cNvSpPr>
          <p:nvPr/>
        </p:nvSpPr>
        <p:spPr>
          <a:xfrm xmlns:a="http://schemas.openxmlformats.org/drawingml/2006/main">
            <a:off x="619125" y="4505325"/>
            <a:ext cx="352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6738A"/>
                </a:solidFill>
                <a:latin typeface="Arial"/>
                <a:ea typeface="Arial"/>
                <a:cs typeface="Arial"/>
              </a:defRPr>
            </a:defPPr>
          </a:lstStyle>
          <a:p xmlns:a="http://schemas.openxmlformats.org/drawingml/2006/main">
            <a:pPr>
              <a:defRPr sz="1950" b="0">
                <a:solidFill>
                  <a:srgbClr val="66738A"/>
                </a:solidFill>
                <a:latin typeface="Arial"/>
                <a:ea typeface="Arial"/>
                <a:cs typeface="Arial"/>
              </a:defRPr>
            </a:pPr>
            <a:r>
              <a:rPr sz="1950" b="0">
                <a:solidFill>
                  <a:srgbClr val="66738A"/>
                </a:solidFill>
                <a:latin typeface="Arial"/>
                <a:ea typeface="Arial"/>
                <a:cs typeface="Arial"/>
              </a:rPr>
              <a:t>6,000 fresh sessions</a:t>
            </a:r>
          </a:p>
          <a:p xmlns:a="http://schemas.openxmlformats.org/drawingml/2006/main">
            <a:pPr>
              <a:defRPr sz="1950" b="0">
                <a:solidFill>
                  <a:srgbClr val="66738A"/>
                </a:solidFill>
                <a:latin typeface="Arial"/>
                <a:ea typeface="Arial"/>
                <a:cs typeface="Arial"/>
              </a:defRPr>
            </a:pPr>
            <a:r>
              <a:rPr sz="1950" b="0">
                <a:solidFill>
                  <a:srgbClr val="66738A"/>
                </a:solidFill>
                <a:latin typeface="Arial"/>
                <a:ea typeface="Arial"/>
                <a:cs typeface="Arial"/>
              </a:rPr>
              <a:t>Green after verification</a:t>
            </a:r>
          </a:p>
        </p:txBody>
      </p:sp>
      <p:pic>
        <p:nvPicPr>
          <p:cNvPr id="5" name="">
            <a:extLst xmlns:a="http://schemas.openxmlformats.org/drawingml/2006/main">
              <a:ext uri="{FF2B5EF4-FFF2-40B4-BE49-F238E27FC236}">
                <a16:creationId xmlns:a16="http://schemas.microsoft.com/office/drawing/2014/main" id="{96D114AD-1F7C-439F-A059-923D5CCB2A4F}"/>
              </a:ext>
            </a:extLst>
          </p:cNvPr>
          <p:cNvPicPr>
            <a:picLocks xmlns:a="http://schemas.openxmlformats.org/drawingml/2006/main" noChangeAspect="1"/>
          </p:cNvPicPr>
          <p:nvPr/>
        </p:nvPicPr>
        <p:blipFill>
          <a:blip xmlns:r="http://schemas.openxmlformats.org/officeDocument/2006/relationships" xmlns:a="http://schemas.openxmlformats.org/drawingml/2006/main" r:embed="R7734380415cc43b8"/>
          <a:stretch xmlns:a="http://schemas.openxmlformats.org/drawingml/2006/main"/>
        </p:blipFill>
        <p:spPr>
          <a:xfrm xmlns:a="http://schemas.openxmlformats.org/drawingml/2006/main">
            <a:off x="4314825" y="1351955"/>
            <a:ext cx="7286625" cy="455414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EEE1E4C-A0BE-4584-A648-366B335DEE6B}"/>
              </a:ext>
            </a:extLst>
          </p:cNvPr>
          <p:cNvSpPr>
            <a:spLocks xmlns:a="http://schemas.openxmlformats.org/drawingml/2006/main" noGrp="1"/>
          </p:cNvSpPr>
          <p:nvPr/>
        </p:nvSpPr>
        <p:spPr>
          <a:xfrm xmlns:a="http://schemas.openxmlformats.org/drawingml/2006/main">
            <a:off x="590550" y="6286500"/>
            <a:ext cx="11010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6738A"/>
                </a:solidFill>
                <a:latin typeface="Arial"/>
                <a:ea typeface="Arial"/>
                <a:cs typeface="Arial"/>
              </a:defRPr>
            </a:defPPr>
          </a:lstStyle>
          <a:p xmlns:a="http://schemas.openxmlformats.org/drawingml/2006/main">
            <a:pPr>
              <a:defRPr sz="1125" b="0">
                <a:solidFill>
                  <a:srgbClr val="66738A"/>
                </a:solidFill>
                <a:latin typeface="Arial"/>
                <a:ea typeface="Arial"/>
                <a:cs typeface="Arial"/>
              </a:defRPr>
            </a:pPr>
            <a:r>
              <a:rPr sz="1125" b="0">
                <a:solidFill>
                  <a:srgbClr val="66738A"/>
                </a:solidFill>
                <a:latin typeface="Arial"/>
                <a:ea typeface="Arial"/>
                <a:cs typeface="Arial"/>
              </a:rPr>
              <a:t>Functional simulator remediation. No production action occurs.</a:t>
            </a:r>
          </a:p>
        </p:txBody>
      </p:sp>
    </p:spTree>
    <p:extLst>
      <p:ext uri="{BB962C8B-B14F-4D97-AF65-F5344CB8AC3E}">
        <p14:creationId xmlns:p14="http://schemas.microsoft.com/office/powerpoint/2010/main" val="1636668792"/>
      </p:ext>
    </p:extLst>
  </p:cSld>
</p:sld>
</file>

<file path=ppt/slides/slide7.xml><?xml version="1.0" encoding="utf-8"?>
<p:sld xmlns:p="http://schemas.openxmlformats.org/presentationml/2006/main">
  <p:cSld>
    <p:bg>
      <p:bgPr>
        <a:solidFill xmlns:a="http://schemas.openxmlformats.org/drawingml/2006/main">
          <a:srgbClr val="F7F8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748CBB1-6AED-46BB-97FA-9A1BC34C8A54}"/>
              </a:ext>
            </a:extLst>
          </p:cNvPr>
          <p:cNvSpPr>
            <a:spLocks xmlns:a="http://schemas.openxmlformats.org/drawingml/2006/main" noGrp="1"/>
          </p:cNvSpPr>
          <p:nvPr/>
        </p:nvSpPr>
        <p:spPr>
          <a:xfrm xmlns:a="http://schemas.openxmlformats.org/drawingml/2006/main">
            <a:off x="590550" y="419100"/>
            <a:ext cx="11010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B2029"/>
                </a:solidFill>
                <a:latin typeface="Arial"/>
                <a:ea typeface="Arial"/>
                <a:cs typeface="Arial"/>
              </a:defRPr>
            </a:defPPr>
          </a:lstStyle>
          <a:p xmlns:a="http://schemas.openxmlformats.org/drawingml/2006/main">
            <a:pPr>
              <a:defRPr sz="3150" b="1">
                <a:solidFill>
                  <a:srgbClr val="1B2029"/>
                </a:solidFill>
                <a:latin typeface="Arial"/>
                <a:ea typeface="Arial"/>
                <a:cs typeface="Arial"/>
              </a:defRPr>
            </a:pPr>
            <a:r>
              <a:rPr sz="3150" b="1">
                <a:solidFill>
                  <a:srgbClr val="1B2029"/>
                </a:solidFill>
                <a:latin typeface="Arial"/>
                <a:ea typeface="Arial"/>
                <a:cs typeface="Arial"/>
              </a:rPr>
              <a:t>Profit and retention matter beyond checkout uptime</a:t>
            </a:r>
          </a:p>
        </p:txBody>
      </p:sp>
      <p:sp>
        <p:nvSpPr>
          <p:cNvPr id="2" name="">
            <a:extLst xmlns:a="http://schemas.openxmlformats.org/drawingml/2006/main">
              <a:ext uri="{FF2B5EF4-FFF2-40B4-BE49-F238E27FC236}">
                <a16:creationId xmlns:a16="http://schemas.microsoft.com/office/drawing/2014/main" id="{11464CEF-33A7-4A3E-A4F0-8FBDDC1025C2}"/>
              </a:ext>
            </a:extLst>
          </p:cNvPr>
          <p:cNvSpPr>
            <a:spLocks xmlns:a="http://schemas.openxmlformats.org/drawingml/2006/main" noGrp="1"/>
          </p:cNvSpPr>
          <p:nvPr/>
        </p:nvSpPr>
        <p:spPr>
          <a:xfrm xmlns:a="http://schemas.openxmlformats.org/drawingml/2006/main">
            <a:off x="619125" y="17145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B2029"/>
                </a:solidFill>
                <a:latin typeface="Arial"/>
                <a:ea typeface="Arial"/>
                <a:cs typeface="Arial"/>
              </a:defRPr>
            </a:defPPr>
          </a:lstStyle>
          <a:p xmlns:a="http://schemas.openxmlformats.org/drawingml/2006/main">
            <a:pPr>
              <a:defRPr sz="2175" b="1">
                <a:solidFill>
                  <a:srgbClr val="1B2029"/>
                </a:solidFill>
                <a:latin typeface="Arial"/>
                <a:ea typeface="Arial"/>
                <a:cs typeface="Arial"/>
              </a:defRPr>
            </a:pPr>
            <a:r>
              <a:rPr sz="2175" b="1">
                <a:solidFill>
                  <a:srgbClr val="1B2029"/>
                </a:solidFill>
                <a:latin typeface="Arial"/>
                <a:ea typeface="Arial"/>
                <a:cs typeface="Arial"/>
              </a:rPr>
              <a:t>Stacked coupon discounts</a:t>
            </a:r>
          </a:p>
        </p:txBody>
      </p:sp>
      <p:sp>
        <p:nvSpPr>
          <p:cNvPr id="3" name="">
            <a:extLst xmlns:a="http://schemas.openxmlformats.org/drawingml/2006/main">
              <a:ext uri="{FF2B5EF4-FFF2-40B4-BE49-F238E27FC236}">
                <a16:creationId xmlns:a16="http://schemas.microsoft.com/office/drawing/2014/main" id="{9F68040F-4A10-41A6-942F-C1CB9B383D39}"/>
              </a:ext>
            </a:extLst>
          </p:cNvPr>
          <p:cNvSpPr>
            <a:spLocks xmlns:a="http://schemas.openxmlformats.org/drawingml/2006/main" noGrp="1"/>
          </p:cNvSpPr>
          <p:nvPr/>
        </p:nvSpPr>
        <p:spPr>
          <a:xfrm xmlns:a="http://schemas.openxmlformats.org/drawingml/2006/main">
            <a:off x="619125" y="2628900"/>
            <a:ext cx="5334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C33C4D"/>
                </a:solidFill>
                <a:latin typeface="Arial"/>
                <a:ea typeface="Arial"/>
                <a:cs typeface="Arial"/>
              </a:defRPr>
            </a:defPPr>
          </a:lstStyle>
          <a:p xmlns:a="http://schemas.openxmlformats.org/drawingml/2006/main">
            <a:pPr>
              <a:defRPr sz="4350" b="1">
                <a:solidFill>
                  <a:srgbClr val="C33C4D"/>
                </a:solidFill>
                <a:latin typeface="Arial"/>
                <a:ea typeface="Arial"/>
                <a:cs typeface="Arial"/>
              </a:defRPr>
            </a:pPr>
            <a:r>
              <a:rPr sz="4350" b="1">
                <a:solidFill>
                  <a:srgbClr val="C33C4D"/>
                </a:solidFill>
                <a:latin typeface="Arial"/>
                <a:ea typeface="Arial"/>
                <a:cs typeface="Arial"/>
              </a:rPr>
              <a:t>$1,235 / week</a:t>
            </a:r>
          </a:p>
        </p:txBody>
      </p:sp>
      <p:sp>
        <p:nvSpPr>
          <p:cNvPr id="4" name="">
            <a:extLst xmlns:a="http://schemas.openxmlformats.org/drawingml/2006/main">
              <a:ext uri="{FF2B5EF4-FFF2-40B4-BE49-F238E27FC236}">
                <a16:creationId xmlns:a16="http://schemas.microsoft.com/office/drawing/2014/main" id="{E1C1A7C7-0676-400F-8AE5-EF9C14937C32}"/>
              </a:ext>
            </a:extLst>
          </p:cNvPr>
          <p:cNvSpPr>
            <a:spLocks xmlns:a="http://schemas.openxmlformats.org/drawingml/2006/main" noGrp="1"/>
          </p:cNvSpPr>
          <p:nvPr/>
        </p:nvSpPr>
        <p:spPr>
          <a:xfrm xmlns:a="http://schemas.openxmlformats.org/drawingml/2006/main">
            <a:off x="619125" y="3829050"/>
            <a:ext cx="5238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6738A"/>
                </a:solidFill>
                <a:latin typeface="Arial"/>
                <a:ea typeface="Arial"/>
                <a:cs typeface="Arial"/>
              </a:defRPr>
            </a:defPPr>
          </a:lstStyle>
          <a:p xmlns:a="http://schemas.openxmlformats.org/drawingml/2006/main">
            <a:pPr>
              <a:defRPr sz="2025" b="0">
                <a:solidFill>
                  <a:srgbClr val="66738A"/>
                </a:solidFill>
                <a:latin typeface="Arial"/>
                <a:ea typeface="Arial"/>
                <a:cs typeface="Arial"/>
              </a:defRPr>
            </a:pPr>
            <a:r>
              <a:rPr sz="2025" b="0">
                <a:solidFill>
                  <a:srgbClr val="66738A"/>
                </a:solidFill>
                <a:latin typeface="Arial"/>
                <a:ea typeface="Arial"/>
                <a:cs typeface="Arial"/>
              </a:rPr>
              <a:t>45% combined discount against</a:t>
            </a:r>
          </a:p>
          <a:p xmlns:a="http://schemas.openxmlformats.org/drawingml/2006/main">
            <a:pPr>
              <a:defRPr sz="2025" b="0">
                <a:solidFill>
                  <a:srgbClr val="66738A"/>
                </a:solidFill>
                <a:latin typeface="Arial"/>
                <a:ea typeface="Arial"/>
                <a:cs typeface="Arial"/>
              </a:defRPr>
            </a:pPr>
            <a:r>
              <a:rPr sz="2025" b="0">
                <a:solidFill>
                  <a:srgbClr val="66738A"/>
                </a:solidFill>
                <a:latin typeface="Arial"/>
                <a:ea typeface="Arial"/>
                <a:cs typeface="Arial"/>
              </a:rPr>
              <a:t>64% assumed product cost</a:t>
            </a:r>
          </a:p>
        </p:txBody>
      </p:sp>
      <p:sp>
        <p:nvSpPr>
          <p:cNvPr id="5" name="">
            <a:extLst xmlns:a="http://schemas.openxmlformats.org/drawingml/2006/main">
              <a:ext uri="{FF2B5EF4-FFF2-40B4-BE49-F238E27FC236}">
                <a16:creationId xmlns:a16="http://schemas.microsoft.com/office/drawing/2014/main" id="{6AD0872B-BB8A-487B-A6D0-17FA10A19FDC}"/>
              </a:ext>
            </a:extLst>
          </p:cNvPr>
          <p:cNvSpPr>
            <a:spLocks xmlns:a="http://schemas.openxmlformats.org/drawingml/2006/main" noGrp="1"/>
          </p:cNvSpPr>
          <p:nvPr/>
        </p:nvSpPr>
        <p:spPr>
          <a:xfrm xmlns:a="http://schemas.openxmlformats.org/drawingml/2006/main">
            <a:off x="6619875" y="1714500"/>
            <a:ext cx="5000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B2029"/>
                </a:solidFill>
                <a:latin typeface="Arial"/>
                <a:ea typeface="Arial"/>
                <a:cs typeface="Arial"/>
              </a:defRPr>
            </a:defPPr>
          </a:lstStyle>
          <a:p xmlns:a="http://schemas.openxmlformats.org/drawingml/2006/main">
            <a:pPr>
              <a:defRPr sz="2175" b="1">
                <a:solidFill>
                  <a:srgbClr val="1B2029"/>
                </a:solidFill>
                <a:latin typeface="Arial"/>
                <a:ea typeface="Arial"/>
                <a:cs typeface="Arial"/>
              </a:defRPr>
            </a:pPr>
            <a:r>
              <a:rPr sz="2175" b="1">
                <a:solidFill>
                  <a:srgbClr val="1B2029"/>
                </a:solidFill>
                <a:latin typeface="Arial"/>
                <a:ea typeface="Arial"/>
                <a:cs typeface="Arial"/>
              </a:rPr>
              <a:t>Delayed delivery</a:t>
            </a:r>
          </a:p>
        </p:txBody>
      </p:sp>
      <p:sp>
        <p:nvSpPr>
          <p:cNvPr id="6" name="">
            <a:extLst xmlns:a="http://schemas.openxmlformats.org/drawingml/2006/main">
              <a:ext uri="{FF2B5EF4-FFF2-40B4-BE49-F238E27FC236}">
                <a16:creationId xmlns:a16="http://schemas.microsoft.com/office/drawing/2014/main" id="{16359C04-A2AA-4456-B14D-911F096A62D4}"/>
              </a:ext>
            </a:extLst>
          </p:cNvPr>
          <p:cNvSpPr>
            <a:spLocks xmlns:a="http://schemas.openxmlformats.org/drawingml/2006/main" noGrp="1"/>
          </p:cNvSpPr>
          <p:nvPr/>
        </p:nvSpPr>
        <p:spPr>
          <a:xfrm xmlns:a="http://schemas.openxmlformats.org/drawingml/2006/main">
            <a:off x="6619875" y="2628900"/>
            <a:ext cx="5000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B2029"/>
                </a:solidFill>
                <a:latin typeface="Arial"/>
                <a:ea typeface="Arial"/>
                <a:cs typeface="Arial"/>
              </a:defRPr>
            </a:defPPr>
          </a:lstStyle>
          <a:p xmlns:a="http://schemas.openxmlformats.org/drawingml/2006/main">
            <a:pPr>
              <a:defRPr sz="3600" b="1">
                <a:solidFill>
                  <a:srgbClr val="1B2029"/>
                </a:solidFill>
                <a:latin typeface="Arial"/>
                <a:ea typeface="Arial"/>
                <a:cs typeface="Arial"/>
              </a:defRPr>
            </a:pPr>
            <a:r>
              <a:rPr sz="3600" b="1">
                <a:solidFill>
                  <a:srgbClr val="1B2029"/>
                </a:solidFill>
                <a:latin typeface="Arial"/>
                <a:ea typeface="Arial"/>
                <a:cs typeface="Arial"/>
              </a:rPr>
              <a:t>41.7% vs 14.1%</a:t>
            </a:r>
          </a:p>
        </p:txBody>
      </p:sp>
      <p:sp>
        <p:nvSpPr>
          <p:cNvPr id="7" name="">
            <a:extLst xmlns:a="http://schemas.openxmlformats.org/drawingml/2006/main">
              <a:ext uri="{FF2B5EF4-FFF2-40B4-BE49-F238E27FC236}">
                <a16:creationId xmlns:a16="http://schemas.microsoft.com/office/drawing/2014/main" id="{1EC33DCA-BEE8-4563-A9BA-1A366526E85F}"/>
              </a:ext>
            </a:extLst>
          </p:cNvPr>
          <p:cNvSpPr>
            <a:spLocks xmlns:a="http://schemas.openxmlformats.org/drawingml/2006/main" noGrp="1"/>
          </p:cNvSpPr>
          <p:nvPr/>
        </p:nvSpPr>
        <p:spPr>
          <a:xfrm xmlns:a="http://schemas.openxmlformats.org/drawingml/2006/main">
            <a:off x="6619875" y="3657600"/>
            <a:ext cx="5000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6738A"/>
                </a:solidFill>
                <a:latin typeface="Arial"/>
                <a:ea typeface="Arial"/>
                <a:cs typeface="Arial"/>
              </a:defRPr>
            </a:defPPr>
          </a:lstStyle>
          <a:p xmlns:a="http://schemas.openxmlformats.org/drawingml/2006/main">
            <a:pPr>
              <a:defRPr sz="2025" b="0">
                <a:solidFill>
                  <a:srgbClr val="66738A"/>
                </a:solidFill>
                <a:latin typeface="Arial"/>
                <a:ea typeface="Arial"/>
                <a:cs typeface="Arial"/>
              </a:defRPr>
            </a:pPr>
            <a:r>
              <a:rPr sz="2025" b="0">
                <a:solidFill>
                  <a:srgbClr val="66738A"/>
                </a:solidFill>
                <a:latin typeface="Arial"/>
                <a:ea typeface="Arial"/>
                <a:cs typeface="Arial"/>
              </a:rPr>
              <a:t>on-time vs delayed</a:t>
            </a:r>
          </a:p>
          <a:p xmlns:a="http://schemas.openxmlformats.org/drawingml/2006/main">
            <a:pPr>
              <a:defRPr sz="2025" b="0">
                <a:solidFill>
                  <a:srgbClr val="66738A"/>
                </a:solidFill>
                <a:latin typeface="Arial"/>
                <a:ea typeface="Arial"/>
                <a:cs typeface="Arial"/>
              </a:defRPr>
            </a:pPr>
            <a:r>
              <a:rPr sz="2025" b="0">
                <a:solidFill>
                  <a:srgbClr val="66738A"/>
                </a:solidFill>
                <a:latin typeface="Arial"/>
                <a:ea typeface="Arial"/>
                <a:cs typeface="Arial"/>
              </a:rPr>
              <a:t>customer repurchase</a:t>
            </a:r>
          </a:p>
        </p:txBody>
      </p:sp>
      <p:sp>
        <p:nvSpPr>
          <p:cNvPr id="8" name="">
            <a:extLst xmlns:a="http://schemas.openxmlformats.org/drawingml/2006/main">
              <a:ext uri="{FF2B5EF4-FFF2-40B4-BE49-F238E27FC236}">
                <a16:creationId xmlns:a16="http://schemas.microsoft.com/office/drawing/2014/main" id="{9EC29C1E-275B-4C5D-9D54-CF8C7602B1E0}"/>
              </a:ext>
            </a:extLst>
          </p:cNvPr>
          <p:cNvSpPr>
            <a:spLocks xmlns:a="http://schemas.openxmlformats.org/drawingml/2006/main" noGrp="1"/>
          </p:cNvSpPr>
          <p:nvPr/>
        </p:nvSpPr>
        <p:spPr>
          <a:xfrm xmlns:a="http://schemas.openxmlformats.org/drawingml/2006/main">
            <a:off x="6619875" y="5038725"/>
            <a:ext cx="5000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33C4D"/>
                </a:solidFill>
                <a:latin typeface="Arial"/>
                <a:ea typeface="Arial"/>
                <a:cs typeface="Arial"/>
              </a:defRPr>
            </a:defPPr>
          </a:lstStyle>
          <a:p xmlns:a="http://schemas.openxmlformats.org/drawingml/2006/main">
            <a:pPr>
              <a:defRPr sz="2250" b="1">
                <a:solidFill>
                  <a:srgbClr val="C33C4D"/>
                </a:solidFill>
                <a:latin typeface="Arial"/>
                <a:ea typeface="Arial"/>
                <a:cs typeface="Arial"/>
              </a:defRPr>
            </a:pPr>
            <a:r>
              <a:rPr sz="2250" b="1">
                <a:solidFill>
                  <a:srgbClr val="C33C4D"/>
                </a:solidFill>
                <a:latin typeface="Arial"/>
                <a:ea typeface="Arial"/>
                <a:cs typeface="Arial"/>
              </a:rPr>
              <a:t>$126,165 / year scenario</a:t>
            </a:r>
          </a:p>
        </p:txBody>
      </p:sp>
      <p:sp>
        <p:nvSpPr>
          <p:cNvPr id="9" name="">
            <a:extLst xmlns:a="http://schemas.openxmlformats.org/drawingml/2006/main">
              <a:ext uri="{FF2B5EF4-FFF2-40B4-BE49-F238E27FC236}">
                <a16:creationId xmlns:a16="http://schemas.microsoft.com/office/drawing/2014/main" id="{63BC3BBB-C2A7-49A6-9BD2-9A221DBA5BBC}"/>
              </a:ext>
            </a:extLst>
          </p:cNvPr>
          <p:cNvSpPr>
            <a:spLocks xmlns:a="http://schemas.openxmlformats.org/drawingml/2006/main" noGrp="1"/>
          </p:cNvSpPr>
          <p:nvPr/>
        </p:nvSpPr>
        <p:spPr>
          <a:xfrm xmlns:a="http://schemas.openxmlformats.org/drawingml/2006/main">
            <a:off x="590550" y="6286500"/>
            <a:ext cx="11010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6738A"/>
                </a:solidFill>
                <a:latin typeface="Arial"/>
                <a:ea typeface="Arial"/>
                <a:cs typeface="Arial"/>
              </a:defRPr>
            </a:defPPr>
          </a:lstStyle>
          <a:p xmlns:a="http://schemas.openxmlformats.org/drawingml/2006/main">
            <a:pPr>
              <a:defRPr sz="1125" b="0">
                <a:solidFill>
                  <a:srgbClr val="66738A"/>
                </a:solidFill>
                <a:latin typeface="Arial"/>
                <a:ea typeface="Arial"/>
                <a:cs typeface="Arial"/>
              </a:defRPr>
            </a:pPr>
            <a:r>
              <a:rPr sz="1125" b="0">
                <a:solidFill>
                  <a:srgbClr val="66738A"/>
                </a:solidFill>
                <a:latin typeface="Arial"/>
                <a:ea typeface="Arial"/>
                <a:cs typeface="Arial"/>
              </a:rPr>
              <a:t>Independent scenarios. Units differ. Do not add daily, weekly and annual exposure totals.</a:t>
            </a:r>
          </a:p>
        </p:txBody>
      </p:sp>
    </p:spTree>
    <p:extLst>
      <p:ext uri="{BB962C8B-B14F-4D97-AF65-F5344CB8AC3E}">
        <p14:creationId xmlns:p14="http://schemas.microsoft.com/office/powerpoint/2010/main" val="597314862"/>
      </p:ext>
    </p:extLst>
  </p:cSld>
</p:sld>
</file>

<file path=ppt/slides/slide8.xml><?xml version="1.0" encoding="utf-8"?>
<p:sld xmlns:p="http://schemas.openxmlformats.org/presentationml/2006/main">
  <p:cSld>
    <p:bg>
      <p:bgPr>
        <a:solidFill xmlns:a="http://schemas.openxmlformats.org/drawingml/2006/main">
          <a:srgbClr val="F7F8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777339-405B-4588-B515-4DFE73845868}"/>
              </a:ext>
            </a:extLst>
          </p:cNvPr>
          <p:cNvSpPr>
            <a:spLocks xmlns:a="http://schemas.openxmlformats.org/drawingml/2006/main" noGrp="1"/>
          </p:cNvSpPr>
          <p:nvPr/>
        </p:nvSpPr>
        <p:spPr>
          <a:xfrm xmlns:a="http://schemas.openxmlformats.org/drawingml/2006/main">
            <a:off x="590550" y="419100"/>
            <a:ext cx="11010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B2029"/>
                </a:solidFill>
                <a:latin typeface="Arial"/>
                <a:ea typeface="Arial"/>
                <a:cs typeface="Arial"/>
              </a:defRPr>
            </a:defPPr>
          </a:lstStyle>
          <a:p xmlns:a="http://schemas.openxmlformats.org/drawingml/2006/main">
            <a:pPr>
              <a:defRPr sz="3150" b="1">
                <a:solidFill>
                  <a:srgbClr val="1B2029"/>
                </a:solidFill>
                <a:latin typeface="Arial"/>
                <a:ea typeface="Arial"/>
                <a:cs typeface="Arial"/>
              </a:defRPr>
            </a:pPr>
            <a:r>
              <a:rPr sz="3150" b="1">
                <a:solidFill>
                  <a:srgbClr val="1B2029"/>
                </a:solidFill>
                <a:latin typeface="Arial"/>
                <a:ea typeface="Arial"/>
                <a:cs typeface="Arial"/>
              </a:rPr>
              <a:t>Banking: a success flag can hide unbacked credits</a:t>
            </a:r>
          </a:p>
        </p:txBody>
      </p:sp>
      <p:sp>
        <p:nvSpPr>
          <p:cNvPr id="2" name="">
            <a:extLst xmlns:a="http://schemas.openxmlformats.org/drawingml/2006/main">
              <a:ext uri="{FF2B5EF4-FFF2-40B4-BE49-F238E27FC236}">
                <a16:creationId xmlns:a16="http://schemas.microsoft.com/office/drawing/2014/main" id="{25EB16F3-79E8-4996-8DB0-8D5D58E17A84}"/>
              </a:ext>
            </a:extLst>
          </p:cNvPr>
          <p:cNvSpPr>
            <a:spLocks xmlns:a="http://schemas.openxmlformats.org/drawingml/2006/main" noGrp="1"/>
          </p:cNvSpPr>
          <p:nvPr/>
        </p:nvSpPr>
        <p:spPr>
          <a:xfrm xmlns:a="http://schemas.openxmlformats.org/drawingml/2006/main">
            <a:off x="619125" y="1828800"/>
            <a:ext cx="3571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C33C4D"/>
                </a:solidFill>
                <a:latin typeface="Arial"/>
                <a:ea typeface="Arial"/>
                <a:cs typeface="Arial"/>
              </a:defRPr>
            </a:defPPr>
          </a:lstStyle>
          <a:p xmlns:a="http://schemas.openxmlformats.org/drawingml/2006/main">
            <a:pPr>
              <a:defRPr sz="5700" b="1">
                <a:solidFill>
                  <a:srgbClr val="C33C4D"/>
                </a:solidFill>
                <a:latin typeface="Arial"/>
                <a:ea typeface="Arial"/>
                <a:cs typeface="Arial"/>
              </a:defRPr>
            </a:pPr>
            <a:r>
              <a:rPr sz="5700" b="1">
                <a:solidFill>
                  <a:srgbClr val="C33C4D"/>
                </a:solidFill>
                <a:latin typeface="Arial"/>
                <a:ea typeface="Arial"/>
                <a:cs typeface="Arial"/>
              </a:rPr>
              <a:t>200</a:t>
            </a:r>
          </a:p>
        </p:txBody>
      </p:sp>
      <p:sp>
        <p:nvSpPr>
          <p:cNvPr id="3" name="">
            <a:extLst xmlns:a="http://schemas.openxmlformats.org/drawingml/2006/main">
              <a:ext uri="{FF2B5EF4-FFF2-40B4-BE49-F238E27FC236}">
                <a16:creationId xmlns:a16="http://schemas.microsoft.com/office/drawing/2014/main" id="{CCCE77A5-75DD-4863-9B4E-73BBC324BD66}"/>
              </a:ext>
            </a:extLst>
          </p:cNvPr>
          <p:cNvSpPr>
            <a:spLocks xmlns:a="http://schemas.openxmlformats.org/drawingml/2006/main" noGrp="1"/>
          </p:cNvSpPr>
          <p:nvPr/>
        </p:nvSpPr>
        <p:spPr>
          <a:xfrm xmlns:a="http://schemas.openxmlformats.org/drawingml/2006/main">
            <a:off x="619125" y="2943225"/>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029"/>
                </a:solidFill>
                <a:latin typeface="Arial"/>
                <a:ea typeface="Arial"/>
                <a:cs typeface="Arial"/>
              </a:defRPr>
            </a:defPPr>
          </a:lstStyle>
          <a:p xmlns:a="http://schemas.openxmlformats.org/drawingml/2006/main">
            <a:pPr>
              <a:defRPr sz="2100" b="0">
                <a:solidFill>
                  <a:srgbClr val="1B2029"/>
                </a:solidFill>
                <a:latin typeface="Arial"/>
                <a:ea typeface="Arial"/>
                <a:cs typeface="Arial"/>
              </a:defRPr>
            </a:pPr>
            <a:r>
              <a:rPr sz="2100" b="0">
                <a:solidFill>
                  <a:srgbClr val="1B2029"/>
                </a:solidFill>
                <a:latin typeface="Arial"/>
                <a:ea typeface="Arial"/>
                <a:cs typeface="Arial"/>
              </a:rPr>
              <a:t>status mismatches</a:t>
            </a:r>
          </a:p>
          <a:p xmlns:a="http://schemas.openxmlformats.org/drawingml/2006/main">
            <a:pPr>
              <a:defRPr sz="2100" b="0">
                <a:solidFill>
                  <a:srgbClr val="1B2029"/>
                </a:solidFill>
                <a:latin typeface="Arial"/>
                <a:ea typeface="Arial"/>
                <a:cs typeface="Arial"/>
              </a:defRPr>
            </a:pPr>
            <a:r>
              <a:rPr sz="2100" b="0">
                <a:solidFill>
                  <a:srgbClr val="1B2029"/>
                </a:solidFill>
                <a:latin typeface="Arial"/>
                <a:ea typeface="Arial"/>
                <a:cs typeface="Arial"/>
              </a:rPr>
              <a:t>in 2,000 transfers</a:t>
            </a:r>
          </a:p>
        </p:txBody>
      </p:sp>
      <p:sp>
        <p:nvSpPr>
          <p:cNvPr id="4" name="">
            <a:extLst xmlns:a="http://schemas.openxmlformats.org/drawingml/2006/main">
              <a:ext uri="{FF2B5EF4-FFF2-40B4-BE49-F238E27FC236}">
                <a16:creationId xmlns:a16="http://schemas.microsoft.com/office/drawing/2014/main" id="{4E66185C-5945-4B5E-A99C-2E5671D2CD67}"/>
              </a:ext>
            </a:extLst>
          </p:cNvPr>
          <p:cNvSpPr>
            <a:spLocks xmlns:a="http://schemas.openxmlformats.org/drawingml/2006/main" noGrp="1"/>
          </p:cNvSpPr>
          <p:nvPr/>
        </p:nvSpPr>
        <p:spPr>
          <a:xfrm xmlns:a="http://schemas.openxmlformats.org/drawingml/2006/main">
            <a:off x="619125" y="4381500"/>
            <a:ext cx="352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C33C4D"/>
                </a:solidFill>
                <a:latin typeface="Arial"/>
                <a:ea typeface="Arial"/>
                <a:cs typeface="Arial"/>
              </a:defRPr>
            </a:defPPr>
          </a:lstStyle>
          <a:p xmlns:a="http://schemas.openxmlformats.org/drawingml/2006/main">
            <a:pPr>
              <a:defRPr sz="3600" b="1">
                <a:solidFill>
                  <a:srgbClr val="C33C4D"/>
                </a:solidFill>
                <a:latin typeface="Arial"/>
                <a:ea typeface="Arial"/>
                <a:cs typeface="Arial"/>
              </a:defRPr>
            </a:pPr>
            <a:r>
              <a:rPr sz="3600" b="1">
                <a:solidFill>
                  <a:srgbClr val="C33C4D"/>
                </a:solidFill>
                <a:latin typeface="Arial"/>
                <a:ea typeface="Arial"/>
                <a:cs typeface="Arial"/>
              </a:rPr>
              <a:t>$46,998.09</a:t>
            </a:r>
          </a:p>
        </p:txBody>
      </p:sp>
      <p:sp>
        <p:nvSpPr>
          <p:cNvPr id="5" name="">
            <a:extLst xmlns:a="http://schemas.openxmlformats.org/drawingml/2006/main">
              <a:ext uri="{FF2B5EF4-FFF2-40B4-BE49-F238E27FC236}">
                <a16:creationId xmlns:a16="http://schemas.microsoft.com/office/drawing/2014/main" id="{05D476ED-8C07-48ED-B714-AF3681DA2C69}"/>
              </a:ext>
            </a:extLst>
          </p:cNvPr>
          <p:cNvSpPr>
            <a:spLocks xmlns:a="http://schemas.openxmlformats.org/drawingml/2006/main" noGrp="1"/>
          </p:cNvSpPr>
          <p:nvPr/>
        </p:nvSpPr>
        <p:spPr>
          <a:xfrm xmlns:a="http://schemas.openxmlformats.org/drawingml/2006/main">
            <a:off x="619125" y="5286375"/>
            <a:ext cx="3524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38A"/>
                </a:solidFill>
                <a:latin typeface="Arial"/>
                <a:ea typeface="Arial"/>
                <a:cs typeface="Arial"/>
              </a:defRPr>
            </a:defPPr>
          </a:lstStyle>
          <a:p xmlns:a="http://schemas.openxmlformats.org/drawingml/2006/main">
            <a:pPr>
              <a:defRPr sz="1875" b="0">
                <a:solidFill>
                  <a:srgbClr val="66738A"/>
                </a:solidFill>
                <a:latin typeface="Arial"/>
                <a:ea typeface="Arial"/>
                <a:cs typeface="Arial"/>
              </a:defRPr>
            </a:pPr>
            <a:r>
              <a:rPr sz="1875" b="0">
                <a:solidFill>
                  <a:srgbClr val="66738A"/>
                </a:solidFill>
                <a:latin typeface="Arial"/>
                <a:ea typeface="Arial"/>
                <a:cs typeface="Arial"/>
              </a:rPr>
              <a:t>unbacked ledger credits</a:t>
            </a:r>
          </a:p>
        </p:txBody>
      </p:sp>
      <p:pic>
        <p:nvPicPr>
          <p:cNvPr id="6" name="">
            <a:extLst xmlns:a="http://schemas.openxmlformats.org/drawingml/2006/main">
              <a:ext uri="{FF2B5EF4-FFF2-40B4-BE49-F238E27FC236}">
                <a16:creationId xmlns:a16="http://schemas.microsoft.com/office/drawing/2014/main" id="{EAA16666-EB68-49CD-A6BF-8099849F1147}"/>
              </a:ext>
            </a:extLst>
          </p:cNvPr>
          <p:cNvPicPr>
            <a:picLocks xmlns:a="http://schemas.openxmlformats.org/drawingml/2006/main" noChangeAspect="1"/>
          </p:cNvPicPr>
          <p:nvPr/>
        </p:nvPicPr>
        <p:blipFill>
          <a:blip xmlns:r="http://schemas.openxmlformats.org/officeDocument/2006/relationships" xmlns:a="http://schemas.openxmlformats.org/drawingml/2006/main" r:embed="R62a0b5a012514f47"/>
          <a:stretch xmlns:a="http://schemas.openxmlformats.org/drawingml/2006/main"/>
        </p:blipFill>
        <p:spPr>
          <a:xfrm xmlns:a="http://schemas.openxmlformats.org/drawingml/2006/main">
            <a:off x="4305300" y="1358503"/>
            <a:ext cx="7296150" cy="456009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AF837FC-D938-49FF-A3FE-A6F6186C834F}"/>
              </a:ext>
            </a:extLst>
          </p:cNvPr>
          <p:cNvSpPr>
            <a:spLocks xmlns:a="http://schemas.openxmlformats.org/drawingml/2006/main" noGrp="1"/>
          </p:cNvSpPr>
          <p:nvPr/>
        </p:nvSpPr>
        <p:spPr>
          <a:xfrm xmlns:a="http://schemas.openxmlformats.org/drawingml/2006/main">
            <a:off x="590550" y="6286500"/>
            <a:ext cx="11010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6738A"/>
                </a:solidFill>
                <a:latin typeface="Arial"/>
                <a:ea typeface="Arial"/>
                <a:cs typeface="Arial"/>
              </a:defRPr>
            </a:defPPr>
          </a:lstStyle>
          <a:p xmlns:a="http://schemas.openxmlformats.org/drawingml/2006/main">
            <a:pPr>
              <a:defRPr sz="1125" b="0">
                <a:solidFill>
                  <a:srgbClr val="66738A"/>
                </a:solidFill>
                <a:latin typeface="Arial"/>
                <a:ea typeface="Arial"/>
                <a:cs typeface="Arial"/>
              </a:defRPr>
            </a:pPr>
            <a:r>
              <a:rPr sz="1125" b="0">
                <a:solidFill>
                  <a:srgbClr val="66738A"/>
                </a:solidFill>
                <a:latin typeface="Arial"/>
                <a:ea typeface="Arial"/>
                <a:cs typeface="Arial"/>
              </a:rPr>
              <a:t>Bank records are synthetic. Accounting postings use integer cents.</a:t>
            </a:r>
          </a:p>
        </p:txBody>
      </p:sp>
    </p:spTree>
    <p:extLst>
      <p:ext uri="{BB962C8B-B14F-4D97-AF65-F5344CB8AC3E}">
        <p14:creationId xmlns:p14="http://schemas.microsoft.com/office/powerpoint/2010/main" val="286988709"/>
      </p:ext>
    </p:extLst>
  </p:cSld>
</p:sld>
</file>

<file path=ppt/slides/slide9.xml><?xml version="1.0" encoding="utf-8"?>
<p:sld xmlns:p="http://schemas.openxmlformats.org/presentationml/2006/main">
  <p:cSld>
    <p:bg>
      <p:bgPr>
        <a:solidFill xmlns:a="http://schemas.openxmlformats.org/drawingml/2006/main">
          <a:srgbClr val="F7F8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00A180-4AFE-426E-8EA8-B74E6570B905}"/>
              </a:ext>
            </a:extLst>
          </p:cNvPr>
          <p:cNvSpPr>
            <a:spLocks xmlns:a="http://schemas.openxmlformats.org/drawingml/2006/main" noGrp="1"/>
          </p:cNvSpPr>
          <p:nvPr/>
        </p:nvSpPr>
        <p:spPr>
          <a:xfrm xmlns:a="http://schemas.openxmlformats.org/drawingml/2006/main">
            <a:off x="590550" y="419100"/>
            <a:ext cx="11010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B2029"/>
                </a:solidFill>
                <a:latin typeface="Arial"/>
                <a:ea typeface="Arial"/>
                <a:cs typeface="Arial"/>
              </a:defRPr>
            </a:defPPr>
          </a:lstStyle>
          <a:p xmlns:a="http://schemas.openxmlformats.org/drawingml/2006/main">
            <a:pPr>
              <a:defRPr sz="3150" b="1">
                <a:solidFill>
                  <a:srgbClr val="1B2029"/>
                </a:solidFill>
                <a:latin typeface="Arial"/>
                <a:ea typeface="Arial"/>
                <a:cs typeface="Arial"/>
              </a:defRPr>
            </a:pPr>
            <a:r>
              <a:rPr sz="3150" b="1">
                <a:solidFill>
                  <a:srgbClr val="1B2029"/>
                </a:solidFill>
                <a:latin typeface="Arial"/>
                <a:ea typeface="Arial"/>
                <a:cs typeface="Arial"/>
              </a:rPr>
              <a:t>Reconciliation preserves the original postings</a:t>
            </a:r>
          </a:p>
        </p:txBody>
      </p:sp>
      <p:sp>
        <p:nvSpPr>
          <p:cNvPr id="2" name="">
            <a:extLst xmlns:a="http://schemas.openxmlformats.org/drawingml/2006/main">
              <a:ext uri="{FF2B5EF4-FFF2-40B4-BE49-F238E27FC236}">
                <a16:creationId xmlns:a16="http://schemas.microsoft.com/office/drawing/2014/main" id="{1A4A4D77-7EDE-4FFC-A79D-1A45235CC0A7}"/>
              </a:ext>
            </a:extLst>
          </p:cNvPr>
          <p:cNvSpPr>
            <a:spLocks xmlns:a="http://schemas.openxmlformats.org/drawingml/2006/main" noGrp="1"/>
          </p:cNvSpPr>
          <p:nvPr/>
        </p:nvSpPr>
        <p:spPr>
          <a:xfrm xmlns:a="http://schemas.openxmlformats.org/drawingml/2006/main">
            <a:off x="619125" y="2009775"/>
            <a:ext cx="357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27825C"/>
                </a:solidFill>
                <a:latin typeface="Arial"/>
                <a:ea typeface="Arial"/>
                <a:cs typeface="Arial"/>
              </a:defRPr>
            </a:defPPr>
          </a:lstStyle>
          <a:p xmlns:a="http://schemas.openxmlformats.org/drawingml/2006/main">
            <a:pPr>
              <a:defRPr sz="3675" b="1">
                <a:solidFill>
                  <a:srgbClr val="27825C"/>
                </a:solidFill>
                <a:latin typeface="Arial"/>
                <a:ea typeface="Arial"/>
                <a:cs typeface="Arial"/>
              </a:defRPr>
            </a:pPr>
            <a:r>
              <a:rPr sz="3675" b="1">
                <a:solidFill>
                  <a:srgbClr val="27825C"/>
                </a:solidFill>
                <a:latin typeface="Arial"/>
                <a:ea typeface="Arial"/>
                <a:cs typeface="Arial"/>
              </a:rPr>
              <a:t>200 reversals</a:t>
            </a:r>
          </a:p>
        </p:txBody>
      </p:sp>
      <p:sp>
        <p:nvSpPr>
          <p:cNvPr id="3" name="">
            <a:extLst xmlns:a="http://schemas.openxmlformats.org/drawingml/2006/main">
              <a:ext uri="{FF2B5EF4-FFF2-40B4-BE49-F238E27FC236}">
                <a16:creationId xmlns:a16="http://schemas.microsoft.com/office/drawing/2014/main" id="{39F3DE82-5656-497B-BE2C-2D1F1C03AD7A}"/>
              </a:ext>
            </a:extLst>
          </p:cNvPr>
          <p:cNvSpPr>
            <a:spLocks xmlns:a="http://schemas.openxmlformats.org/drawingml/2006/main" noGrp="1"/>
          </p:cNvSpPr>
          <p:nvPr/>
        </p:nvSpPr>
        <p:spPr>
          <a:xfrm xmlns:a="http://schemas.openxmlformats.org/drawingml/2006/main">
            <a:off x="619125" y="3133725"/>
            <a:ext cx="357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27825C"/>
                </a:solidFill>
                <a:latin typeface="Arial"/>
                <a:ea typeface="Arial"/>
                <a:cs typeface="Arial"/>
              </a:defRPr>
            </a:defPPr>
          </a:lstStyle>
          <a:p xmlns:a="http://schemas.openxmlformats.org/drawingml/2006/main">
            <a:pPr>
              <a:defRPr sz="3675" b="1">
                <a:solidFill>
                  <a:srgbClr val="27825C"/>
                </a:solidFill>
                <a:latin typeface="Arial"/>
                <a:ea typeface="Arial"/>
                <a:cs typeface="Arial"/>
              </a:defRPr>
            </a:pPr>
            <a:r>
              <a:rPr sz="3675" b="1">
                <a:solidFill>
                  <a:srgbClr val="27825C"/>
                </a:solidFill>
                <a:latin typeface="Arial"/>
                <a:ea typeface="Arial"/>
                <a:cs typeface="Arial"/>
              </a:rPr>
              <a:t>0 mismatches</a:t>
            </a:r>
          </a:p>
        </p:txBody>
      </p:sp>
      <p:sp>
        <p:nvSpPr>
          <p:cNvPr id="4" name="">
            <a:extLst xmlns:a="http://schemas.openxmlformats.org/drawingml/2006/main">
              <a:ext uri="{FF2B5EF4-FFF2-40B4-BE49-F238E27FC236}">
                <a16:creationId xmlns:a16="http://schemas.microsoft.com/office/drawing/2014/main" id="{93C3BD10-9022-4CE8-99CC-5416B958F8E6}"/>
              </a:ext>
            </a:extLst>
          </p:cNvPr>
          <p:cNvSpPr>
            <a:spLocks xmlns:a="http://schemas.openxmlformats.org/drawingml/2006/main" noGrp="1"/>
          </p:cNvSpPr>
          <p:nvPr/>
        </p:nvSpPr>
        <p:spPr>
          <a:xfrm xmlns:a="http://schemas.openxmlformats.org/drawingml/2006/main">
            <a:off x="619125" y="4438650"/>
            <a:ext cx="36195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6738A"/>
                </a:solidFill>
                <a:latin typeface="Arial"/>
                <a:ea typeface="Arial"/>
                <a:cs typeface="Arial"/>
              </a:defRPr>
            </a:defPPr>
          </a:lstStyle>
          <a:p xmlns:a="http://schemas.openxmlformats.org/drawingml/2006/main">
            <a:pPr>
              <a:defRPr sz="1950" b="0">
                <a:solidFill>
                  <a:srgbClr val="66738A"/>
                </a:solidFill>
                <a:latin typeface="Arial"/>
                <a:ea typeface="Arial"/>
                <a:cs typeface="Arial"/>
              </a:defRPr>
            </a:pPr>
            <a:r>
              <a:rPr sz="1950" b="0">
                <a:solidFill>
                  <a:srgbClr val="66738A"/>
                </a:solidFill>
                <a:latin typeface="Arial"/>
                <a:ea typeface="Arial"/>
                <a:cs typeface="Arial"/>
              </a:rPr>
              <a:t>Original credits retained</a:t>
            </a:r>
          </a:p>
          <a:p xmlns:a="http://schemas.openxmlformats.org/drawingml/2006/main">
            <a:pPr>
              <a:defRPr sz="1950" b="0">
                <a:solidFill>
                  <a:srgbClr val="66738A"/>
                </a:solidFill>
                <a:latin typeface="Arial"/>
                <a:ea typeface="Arial"/>
                <a:cs typeface="Arial"/>
              </a:defRPr>
            </a:pPr>
            <a:r>
              <a:rPr sz="1950" b="0">
                <a:solidFill>
                  <a:srgbClr val="66738A"/>
                </a:solidFill>
                <a:latin typeface="Arial"/>
                <a:ea typeface="Arial"/>
                <a:cs typeface="Arial"/>
              </a:rPr>
              <a:t>Corrections recorded in the audit trail</a:t>
            </a:r>
          </a:p>
        </p:txBody>
      </p:sp>
      <p:pic>
        <p:nvPicPr>
          <p:cNvPr id="5" name="">
            <a:extLst xmlns:a="http://schemas.openxmlformats.org/drawingml/2006/main">
              <a:ext uri="{FF2B5EF4-FFF2-40B4-BE49-F238E27FC236}">
                <a16:creationId xmlns:a16="http://schemas.microsoft.com/office/drawing/2014/main" id="{40397C1D-FA6E-4B29-9EF8-B3416FC716B6}"/>
              </a:ext>
            </a:extLst>
          </p:cNvPr>
          <p:cNvPicPr>
            <a:picLocks xmlns:a="http://schemas.openxmlformats.org/drawingml/2006/main" noChangeAspect="1"/>
          </p:cNvPicPr>
          <p:nvPr/>
        </p:nvPicPr>
        <p:blipFill>
          <a:blip xmlns:r="http://schemas.openxmlformats.org/officeDocument/2006/relationships" xmlns:a="http://schemas.openxmlformats.org/drawingml/2006/main" r:embed="R2194453e2fbd4e3e"/>
          <a:stretch xmlns:a="http://schemas.openxmlformats.org/drawingml/2006/main"/>
        </p:blipFill>
        <p:spPr>
          <a:xfrm xmlns:a="http://schemas.openxmlformats.org/drawingml/2006/main">
            <a:off x="4314825" y="1351955"/>
            <a:ext cx="7286625" cy="455414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810E24B-0896-49F4-AABB-2702AE9E1CDA}"/>
              </a:ext>
            </a:extLst>
          </p:cNvPr>
          <p:cNvSpPr>
            <a:spLocks xmlns:a="http://schemas.openxmlformats.org/drawingml/2006/main" noGrp="1"/>
          </p:cNvSpPr>
          <p:nvPr/>
        </p:nvSpPr>
        <p:spPr>
          <a:xfrm xmlns:a="http://schemas.openxmlformats.org/drawingml/2006/main">
            <a:off x="590550" y="6286500"/>
            <a:ext cx="11010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6738A"/>
                </a:solidFill>
                <a:latin typeface="Arial"/>
                <a:ea typeface="Arial"/>
                <a:cs typeface="Arial"/>
              </a:defRPr>
            </a:defPPr>
          </a:lstStyle>
          <a:p xmlns:a="http://schemas.openxmlformats.org/drawingml/2006/main">
            <a:pPr>
              <a:defRPr sz="1125" b="0">
                <a:solidFill>
                  <a:srgbClr val="66738A"/>
                </a:solidFill>
                <a:latin typeface="Arial"/>
                <a:ea typeface="Arial"/>
                <a:cs typeface="Arial"/>
              </a:defRPr>
            </a:pPr>
            <a:r>
              <a:rPr sz="1125" b="0">
                <a:solidFill>
                  <a:srgbClr val="66738A"/>
                </a:solidFill>
                <a:latin typeface="Arial"/>
                <a:ea typeface="Arial"/>
                <a:cs typeface="Arial"/>
              </a:rPr>
              <a:t>No bank connection or real financial transfer. Recovery is verified against persisted demo records.</a:t>
            </a:r>
          </a:p>
        </p:txBody>
      </p:sp>
    </p:spTree>
    <p:extLst>
      <p:ext uri="{BB962C8B-B14F-4D97-AF65-F5344CB8AC3E}">
        <p14:creationId xmlns:p14="http://schemas.microsoft.com/office/powerpoint/2010/main" val="348800332"/>
      </p:ext>
    </p:extLst>
  </p:cSld>
</p:sld>
</file>

<file path=ppt/slides/slide10.xml><?xml version="1.0" encoding="utf-8"?>
<p:sld xmlns:p="http://schemas.openxmlformats.org/presentationml/2006/main">
  <p:cSld>
    <p:bg>
      <p:bgPr>
        <a:solidFill xmlns:a="http://schemas.openxmlformats.org/drawingml/2006/main">
          <a:srgbClr val="F7F8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7250DEC-058D-4C1E-89F0-9E18BFB40E2F}"/>
              </a:ext>
            </a:extLst>
          </p:cNvPr>
          <p:cNvSpPr>
            <a:spLocks xmlns:a="http://schemas.openxmlformats.org/drawingml/2006/main" noGrp="1"/>
          </p:cNvSpPr>
          <p:nvPr/>
        </p:nvSpPr>
        <p:spPr>
          <a:xfrm xmlns:a="http://schemas.openxmlformats.org/drawingml/2006/main">
            <a:off x="590550" y="419100"/>
            <a:ext cx="11010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B2029"/>
                </a:solidFill>
                <a:latin typeface="Arial"/>
                <a:ea typeface="Arial"/>
                <a:cs typeface="Arial"/>
              </a:defRPr>
            </a:defPPr>
          </a:lstStyle>
          <a:p xmlns:a="http://schemas.openxmlformats.org/drawingml/2006/main">
            <a:pPr>
              <a:defRPr sz="3150" b="1">
                <a:solidFill>
                  <a:srgbClr val="1B2029"/>
                </a:solidFill>
                <a:latin typeface="Arial"/>
                <a:ea typeface="Arial"/>
                <a:cs typeface="Arial"/>
              </a:defRPr>
            </a:pPr>
            <a:r>
              <a:rPr sz="3150" b="1">
                <a:solidFill>
                  <a:srgbClr val="1B2029"/>
                </a:solidFill>
                <a:latin typeface="Arial"/>
                <a:ea typeface="Arial"/>
                <a:cs typeface="Arial"/>
              </a:rPr>
              <a:t>A pilot should prove investigation value</a:t>
            </a:r>
          </a:p>
        </p:txBody>
      </p:sp>
      <p:sp>
        <p:nvSpPr>
          <p:cNvPr id="2" name="">
            <a:extLst xmlns:a="http://schemas.openxmlformats.org/drawingml/2006/main">
              <a:ext uri="{FF2B5EF4-FFF2-40B4-BE49-F238E27FC236}">
                <a16:creationId xmlns:a16="http://schemas.microsoft.com/office/drawing/2014/main" id="{73168CDE-0D0F-4BBA-9B79-5048EAA7FA2A}"/>
              </a:ext>
            </a:extLst>
          </p:cNvPr>
          <p:cNvSpPr>
            <a:spLocks xmlns:a="http://schemas.openxmlformats.org/drawingml/2006/main" noGrp="1"/>
          </p:cNvSpPr>
          <p:nvPr/>
        </p:nvSpPr>
        <p:spPr>
          <a:xfrm xmlns:a="http://schemas.openxmlformats.org/drawingml/2006/main">
            <a:off x="619125" y="1600200"/>
            <a:ext cx="5238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B2029"/>
                </a:solidFill>
                <a:latin typeface="Arial"/>
                <a:ea typeface="Arial"/>
                <a:cs typeface="Arial"/>
              </a:defRPr>
            </a:defPPr>
          </a:lstStyle>
          <a:p xmlns:a="http://schemas.openxmlformats.org/drawingml/2006/main">
            <a:pPr>
              <a:defRPr sz="2250" b="1">
                <a:solidFill>
                  <a:srgbClr val="1B2029"/>
                </a:solidFill>
                <a:latin typeface="Arial"/>
                <a:ea typeface="Arial"/>
                <a:cs typeface="Arial"/>
              </a:defRPr>
            </a:pPr>
            <a:r>
              <a:rPr sz="2250" b="1">
                <a:solidFill>
                  <a:srgbClr val="1B2029"/>
                </a:solidFill>
                <a:latin typeface="Arial"/>
                <a:ea typeface="Arial"/>
                <a:cs typeface="Arial"/>
              </a:rPr>
              <a:t>First buyer hypothesis</a:t>
            </a:r>
          </a:p>
        </p:txBody>
      </p:sp>
      <p:sp>
        <p:nvSpPr>
          <p:cNvPr id="3" name="">
            <a:extLst xmlns:a="http://schemas.openxmlformats.org/drawingml/2006/main">
              <a:ext uri="{FF2B5EF4-FFF2-40B4-BE49-F238E27FC236}">
                <a16:creationId xmlns:a16="http://schemas.microsoft.com/office/drawing/2014/main" id="{EBD90889-27A0-41A0-863C-A76728AA421C}"/>
              </a:ext>
            </a:extLst>
          </p:cNvPr>
          <p:cNvSpPr>
            <a:spLocks xmlns:a="http://schemas.openxmlformats.org/drawingml/2006/main" noGrp="1"/>
          </p:cNvSpPr>
          <p:nvPr/>
        </p:nvSpPr>
        <p:spPr>
          <a:xfrm xmlns:a="http://schemas.openxmlformats.org/drawingml/2006/main">
            <a:off x="619125" y="2438400"/>
            <a:ext cx="52863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66738A"/>
                </a:solidFill>
                <a:latin typeface="Arial"/>
                <a:ea typeface="Arial"/>
                <a:cs typeface="Arial"/>
              </a:defRPr>
            </a:defPPr>
          </a:lstStyle>
          <a:p xmlns:a="http://schemas.openxmlformats.org/drawingml/2006/main">
            <a:pPr>
              <a:defRPr sz="2250" b="0">
                <a:solidFill>
                  <a:srgbClr val="66738A"/>
                </a:solidFill>
                <a:latin typeface="Arial"/>
                <a:ea typeface="Arial"/>
                <a:cs typeface="Arial"/>
              </a:defRPr>
            </a:pPr>
            <a:r>
              <a:rPr sz="2250" b="0">
                <a:solidFill>
                  <a:srgbClr val="66738A"/>
                </a:solidFill>
                <a:latin typeface="Arial"/>
                <a:ea typeface="Arial"/>
                <a:cs typeface="Arial"/>
              </a:rPr>
              <a:t>A growing Shopify seller</a:t>
            </a:r>
          </a:p>
          <a:p xmlns:a="http://schemas.openxmlformats.org/drawingml/2006/main">
            <a:pPr>
              <a:defRPr sz="2250" b="0">
                <a:solidFill>
                  <a:srgbClr val="66738A"/>
                </a:solidFill>
                <a:latin typeface="Arial"/>
                <a:ea typeface="Arial"/>
                <a:cs typeface="Arial"/>
              </a:defRPr>
            </a:pPr>
            <a:r>
              <a:rPr sz="2250" b="0">
                <a:solidFill>
                  <a:srgbClr val="66738A"/>
                </a:solidFill>
                <a:latin typeface="Arial"/>
                <a:ea typeface="Arial"/>
                <a:cs typeface="Arial"/>
              </a:rPr>
              <a:t>with custom checkout code</a:t>
            </a:r>
          </a:p>
          <a:p xmlns:a="http://schemas.openxmlformats.org/drawingml/2006/main">
            <a:pPr>
              <a:defRPr sz="2250" b="0">
                <a:solidFill>
                  <a:srgbClr val="66738A"/>
                </a:solidFill>
                <a:latin typeface="Arial"/>
                <a:ea typeface="Arial"/>
                <a:cs typeface="Arial"/>
              </a:defRPr>
            </a:pPr>
            <a:r>
              <a:rPr sz="2250" b="0">
                <a:solidFill>
                  <a:srgbClr val="66738A"/>
                </a:solidFill>
                <a:latin typeface="Arial"/>
                <a:ea typeface="Arial"/>
                <a:cs typeface="Arial"/>
              </a:rPr>
              <a:t>and frequent campaign changes</a:t>
            </a:r>
          </a:p>
        </p:txBody>
      </p:sp>
      <p:sp>
        <p:nvSpPr>
          <p:cNvPr id="4" name="">
            <a:extLst xmlns:a="http://schemas.openxmlformats.org/drawingml/2006/main">
              <a:ext uri="{FF2B5EF4-FFF2-40B4-BE49-F238E27FC236}">
                <a16:creationId xmlns:a16="http://schemas.microsoft.com/office/drawing/2014/main" id="{67CA50AE-D7CB-4956-B4B7-D3E10A0D14EC}"/>
              </a:ext>
            </a:extLst>
          </p:cNvPr>
          <p:cNvSpPr>
            <a:spLocks xmlns:a="http://schemas.openxmlformats.org/drawingml/2006/main" noGrp="1"/>
          </p:cNvSpPr>
          <p:nvPr/>
        </p:nvSpPr>
        <p:spPr>
          <a:xfrm xmlns:a="http://schemas.openxmlformats.org/drawingml/2006/main">
            <a:off x="6667500" y="16002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B2029"/>
                </a:solidFill>
                <a:latin typeface="Arial"/>
                <a:ea typeface="Arial"/>
                <a:cs typeface="Arial"/>
              </a:defRPr>
            </a:defPPr>
          </a:lstStyle>
          <a:p xmlns:a="http://schemas.openxmlformats.org/drawingml/2006/main">
            <a:pPr>
              <a:defRPr sz="2250" b="1">
                <a:solidFill>
                  <a:srgbClr val="1B2029"/>
                </a:solidFill>
                <a:latin typeface="Arial"/>
                <a:ea typeface="Arial"/>
                <a:cs typeface="Arial"/>
              </a:defRPr>
            </a:pPr>
            <a:r>
              <a:rPr sz="2250" b="1">
                <a:solidFill>
                  <a:srgbClr val="1B2029"/>
                </a:solidFill>
                <a:latin typeface="Arial"/>
                <a:ea typeface="Arial"/>
                <a:cs typeface="Arial"/>
              </a:rPr>
              <a:t>Pilot measures</a:t>
            </a:r>
          </a:p>
        </p:txBody>
      </p:sp>
      <p:sp>
        <p:nvSpPr>
          <p:cNvPr id="5" name="">
            <a:extLst xmlns:a="http://schemas.openxmlformats.org/drawingml/2006/main">
              <a:ext uri="{FF2B5EF4-FFF2-40B4-BE49-F238E27FC236}">
                <a16:creationId xmlns:a16="http://schemas.microsoft.com/office/drawing/2014/main" id="{1A4900D6-4369-4FF6-AB7C-6645FD1617E9}"/>
              </a:ext>
            </a:extLst>
          </p:cNvPr>
          <p:cNvSpPr>
            <a:spLocks xmlns:a="http://schemas.openxmlformats.org/drawingml/2006/main" noGrp="1"/>
          </p:cNvSpPr>
          <p:nvPr/>
        </p:nvSpPr>
        <p:spPr>
          <a:xfrm xmlns:a="http://schemas.openxmlformats.org/drawingml/2006/main">
            <a:off x="6667500" y="2438400"/>
            <a:ext cx="49053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66738A"/>
                </a:solidFill>
                <a:latin typeface="Arial"/>
                <a:ea typeface="Arial"/>
                <a:cs typeface="Arial"/>
              </a:defRPr>
            </a:defPPr>
          </a:lstStyle>
          <a:p xmlns:a="http://schemas.openxmlformats.org/drawingml/2006/main">
            <a:pPr>
              <a:defRPr sz="2100" b="0">
                <a:solidFill>
                  <a:srgbClr val="66738A"/>
                </a:solidFill>
                <a:latin typeface="Arial"/>
                <a:ea typeface="Arial"/>
                <a:cs typeface="Arial"/>
              </a:defRPr>
            </a:pPr>
            <a:r>
              <a:rPr sz="2100" b="0">
                <a:solidFill>
                  <a:srgbClr val="66738A"/>
                </a:solidFill>
                <a:latin typeface="Arial"/>
                <a:ea typeface="Arial"/>
                <a:cs typeface="Arial"/>
              </a:rPr>
              <a:t>Useful alerts vs false positives</a:t>
            </a:r>
          </a:p>
          <a:p xmlns:a="http://schemas.openxmlformats.org/drawingml/2006/main">
            <a:pPr>
              <a:defRPr sz="2100" b="0">
                <a:solidFill>
                  <a:srgbClr val="66738A"/>
                </a:solidFill>
                <a:latin typeface="Arial"/>
                <a:ea typeface="Arial"/>
                <a:cs typeface="Arial"/>
              </a:defRPr>
            </a:pPr>
            <a:r>
              <a:rPr sz="2100" b="0">
                <a:solidFill>
                  <a:srgbClr val="66738A"/>
                </a:solidFill>
                <a:latin typeface="Arial"/>
                <a:ea typeface="Arial"/>
                <a:cs typeface="Arial"/>
              </a:rPr>
              <a:t>Time to identify a candidate change</a:t>
            </a:r>
          </a:p>
          <a:p xmlns:a="http://schemas.openxmlformats.org/drawingml/2006/main">
            <a:pPr>
              <a:defRPr sz="2100" b="0">
                <a:solidFill>
                  <a:srgbClr val="66738A"/>
                </a:solidFill>
                <a:latin typeface="Arial"/>
                <a:ea typeface="Arial"/>
                <a:cs typeface="Arial"/>
              </a:defRPr>
            </a:pPr>
            <a:r>
              <a:rPr sz="2100" b="0">
                <a:solidFill>
                  <a:srgbClr val="66738A"/>
                </a:solidFill>
                <a:latin typeface="Arial"/>
                <a:ea typeface="Arial"/>
                <a:cs typeface="Arial"/>
              </a:rPr>
              <a:t>Measured recovery after a response</a:t>
            </a:r>
          </a:p>
        </p:txBody>
      </p:sp>
      <p:sp>
        <p:nvSpPr>
          <p:cNvPr id="6" name="">
            <a:extLst xmlns:a="http://schemas.openxmlformats.org/drawingml/2006/main">
              <a:ext uri="{FF2B5EF4-FFF2-40B4-BE49-F238E27FC236}">
                <a16:creationId xmlns:a16="http://schemas.microsoft.com/office/drawing/2014/main" id="{755BEBCF-47C3-4F9F-BD3F-CC2F0AF0F72B}"/>
              </a:ext>
            </a:extLst>
          </p:cNvPr>
          <p:cNvSpPr>
            <a:spLocks xmlns:a="http://schemas.openxmlformats.org/drawingml/2006/main" noGrp="1"/>
          </p:cNvSpPr>
          <p:nvPr/>
        </p:nvSpPr>
        <p:spPr>
          <a:xfrm xmlns:a="http://schemas.openxmlformats.org/drawingml/2006/main">
            <a:off x="619125" y="4686300"/>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B2029"/>
                </a:solidFill>
                <a:latin typeface="Arial"/>
                <a:ea typeface="Arial"/>
                <a:cs typeface="Arial"/>
              </a:defRPr>
            </a:defPPr>
          </a:lstStyle>
          <a:p xmlns:a="http://schemas.openxmlformats.org/drawingml/2006/main">
            <a:pPr>
              <a:defRPr sz="1950" b="1">
                <a:solidFill>
                  <a:srgbClr val="1B2029"/>
                </a:solidFill>
                <a:latin typeface="Arial"/>
                <a:ea typeface="Arial"/>
                <a:cs typeface="Arial"/>
              </a:defRPr>
            </a:pPr>
            <a:r>
              <a:rPr sz="1950" b="1">
                <a:solidFill>
                  <a:srgbClr val="1B2029"/>
                </a:solidFill>
                <a:latin typeface="Arial"/>
                <a:ea typeface="Arial"/>
                <a:cs typeface="Arial"/>
              </a:rPr>
              <a:t>Working locally today</a:t>
            </a:r>
          </a:p>
        </p:txBody>
      </p:sp>
      <p:sp>
        <p:nvSpPr>
          <p:cNvPr id="7" name="">
            <a:extLst xmlns:a="http://schemas.openxmlformats.org/drawingml/2006/main">
              <a:ext uri="{FF2B5EF4-FFF2-40B4-BE49-F238E27FC236}">
                <a16:creationId xmlns:a16="http://schemas.microsoft.com/office/drawing/2014/main" id="{D54D7726-A7C7-4D16-A8BD-35DC7E5518C0}"/>
              </a:ext>
            </a:extLst>
          </p:cNvPr>
          <p:cNvSpPr>
            <a:spLocks xmlns:a="http://schemas.openxmlformats.org/drawingml/2006/main" noGrp="1"/>
          </p:cNvSpPr>
          <p:nvPr/>
        </p:nvSpPr>
        <p:spPr>
          <a:xfrm xmlns:a="http://schemas.openxmlformats.org/drawingml/2006/main">
            <a:off x="619125" y="5219700"/>
            <a:ext cx="5524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6738A"/>
                </a:solidFill>
                <a:latin typeface="Arial"/>
                <a:ea typeface="Arial"/>
                <a:cs typeface="Arial"/>
              </a:defRPr>
            </a:defPPr>
          </a:lstStyle>
          <a:p xmlns:a="http://schemas.openxmlformats.org/drawingml/2006/main">
            <a:pPr>
              <a:defRPr sz="1650" b="0">
                <a:solidFill>
                  <a:srgbClr val="66738A"/>
                </a:solidFill>
                <a:latin typeface="Arial"/>
                <a:ea typeface="Arial"/>
                <a:cs typeface="Arial"/>
              </a:defRPr>
            </a:pPr>
            <a:r>
              <a:rPr sz="1650" b="0">
                <a:solidFill>
                  <a:srgbClr val="66738A"/>
                </a:solidFill>
                <a:latin typeface="Arial"/>
                <a:ea typeface="Arial"/>
                <a:cs typeface="Arial"/>
              </a:rPr>
              <a:t>Persisted events, detection, commit diffs,</a:t>
            </a:r>
          </a:p>
          <a:p xmlns:a="http://schemas.openxmlformats.org/drawingml/2006/main">
            <a:pPr>
              <a:defRPr sz="1650" b="0">
                <a:solidFill>
                  <a:srgbClr val="66738A"/>
                </a:solidFill>
                <a:latin typeface="Arial"/>
                <a:ea typeface="Arial"/>
                <a:cs typeface="Arial"/>
              </a:defRPr>
            </a:pPr>
            <a:r>
              <a:rPr sz="1650" b="0">
                <a:solidFill>
                  <a:srgbClr val="66738A"/>
                </a:solidFill>
                <a:latin typeface="Arial"/>
                <a:ea typeface="Arial"/>
                <a:cs typeface="Arial"/>
              </a:rPr>
              <a:t>impact calculations and reconciliation</a:t>
            </a:r>
          </a:p>
        </p:txBody>
      </p:sp>
      <p:sp>
        <p:nvSpPr>
          <p:cNvPr id="8" name="">
            <a:extLst xmlns:a="http://schemas.openxmlformats.org/drawingml/2006/main">
              <a:ext uri="{FF2B5EF4-FFF2-40B4-BE49-F238E27FC236}">
                <a16:creationId xmlns:a16="http://schemas.microsoft.com/office/drawing/2014/main" id="{AA224F79-B2AF-4C70-A084-EFF8573CDD95}"/>
              </a:ext>
            </a:extLst>
          </p:cNvPr>
          <p:cNvSpPr>
            <a:spLocks xmlns:a="http://schemas.openxmlformats.org/drawingml/2006/main" noGrp="1"/>
          </p:cNvSpPr>
          <p:nvPr/>
        </p:nvSpPr>
        <p:spPr>
          <a:xfrm xmlns:a="http://schemas.openxmlformats.org/drawingml/2006/main">
            <a:off x="6667500" y="4686300"/>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B2029"/>
                </a:solidFill>
                <a:latin typeface="Arial"/>
                <a:ea typeface="Arial"/>
                <a:cs typeface="Arial"/>
              </a:defRPr>
            </a:defPPr>
          </a:lstStyle>
          <a:p xmlns:a="http://schemas.openxmlformats.org/drawingml/2006/main">
            <a:pPr>
              <a:defRPr sz="1950" b="1">
                <a:solidFill>
                  <a:srgbClr val="1B2029"/>
                </a:solidFill>
                <a:latin typeface="Arial"/>
                <a:ea typeface="Arial"/>
                <a:cs typeface="Arial"/>
              </a:defRPr>
            </a:pPr>
            <a:r>
              <a:rPr sz="1950" b="1">
                <a:solidFill>
                  <a:srgbClr val="1B2029"/>
                </a:solidFill>
                <a:latin typeface="Arial"/>
                <a:ea typeface="Arial"/>
                <a:cs typeface="Arial"/>
              </a:rPr>
              <a:t>Next connected milestone</a:t>
            </a:r>
          </a:p>
        </p:txBody>
      </p:sp>
      <p:sp>
        <p:nvSpPr>
          <p:cNvPr id="9" name="">
            <a:extLst xmlns:a="http://schemas.openxmlformats.org/drawingml/2006/main">
              <a:ext uri="{FF2B5EF4-FFF2-40B4-BE49-F238E27FC236}">
                <a16:creationId xmlns:a16="http://schemas.microsoft.com/office/drawing/2014/main" id="{0F15BE56-EE45-43EA-9EDC-D04C4DDF9BBB}"/>
              </a:ext>
            </a:extLst>
          </p:cNvPr>
          <p:cNvSpPr>
            <a:spLocks xmlns:a="http://schemas.openxmlformats.org/drawingml/2006/main" noGrp="1"/>
          </p:cNvSpPr>
          <p:nvPr/>
        </p:nvSpPr>
        <p:spPr>
          <a:xfrm xmlns:a="http://schemas.openxmlformats.org/drawingml/2006/main">
            <a:off x="6667500" y="5219700"/>
            <a:ext cx="4905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6738A"/>
                </a:solidFill>
                <a:latin typeface="Arial"/>
                <a:ea typeface="Arial"/>
                <a:cs typeface="Arial"/>
              </a:defRPr>
            </a:defPPr>
          </a:lstStyle>
          <a:p xmlns:a="http://schemas.openxmlformats.org/drawingml/2006/main">
            <a:pPr>
              <a:defRPr sz="1650" b="0">
                <a:solidFill>
                  <a:srgbClr val="66738A"/>
                </a:solidFill>
                <a:latin typeface="Arial"/>
                <a:ea typeface="Arial"/>
                <a:cs typeface="Arial"/>
              </a:defRPr>
            </a:pPr>
            <a:r>
              <a:rPr sz="1650" b="0">
                <a:solidFill>
                  <a:srgbClr val="66738A"/>
                </a:solidFill>
                <a:latin typeface="Arial"/>
                <a:ea typeface="Arial"/>
                <a:cs typeface="Arial"/>
              </a:rPr>
              <a:t>One personal GCP project, one repository,</a:t>
            </a:r>
          </a:p>
          <a:p xmlns:a="http://schemas.openxmlformats.org/drawingml/2006/main">
            <a:pPr>
              <a:defRPr sz="1650" b="0">
                <a:solidFill>
                  <a:srgbClr val="66738A"/>
                </a:solidFill>
                <a:latin typeface="Arial"/>
                <a:ea typeface="Arial"/>
                <a:cs typeface="Arial"/>
              </a:defRPr>
            </a:pPr>
            <a:r>
              <a:rPr sz="1650" b="0">
                <a:solidFill>
                  <a:srgbClr val="66738A"/>
                </a:solidFill>
                <a:latin typeface="Arial"/>
                <a:ea typeface="Arial"/>
                <a:cs typeface="Arial"/>
              </a:rPr>
              <a:t>and one verified business event stream</a:t>
            </a:r>
          </a:p>
        </p:txBody>
      </p:sp>
    </p:spTree>
    <p:extLst>
      <p:ext uri="{BB962C8B-B14F-4D97-AF65-F5344CB8AC3E}">
        <p14:creationId xmlns:p14="http://schemas.microsoft.com/office/powerpoint/2010/main" val="1521170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2026-10-10T14:09:30.8590000Z</dcterms:created>
  <dcterms:modified xsi:type="dcterms:W3CDTF">2026-10-10T14:09:30.8590000Z</dcterms:modified>
</coreProperties>
</file>